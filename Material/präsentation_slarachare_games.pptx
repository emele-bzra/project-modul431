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7" r:id="rId9"/>
    <p:sldId id="264" r:id="rId10"/>
    <p:sldId id="273" r:id="rId11"/>
    <p:sldId id="266" r:id="rId12"/>
    <p:sldId id="265" r:id="rId13"/>
    <p:sldId id="270" r:id="rId14"/>
    <p:sldId id="269" r:id="rId15"/>
    <p:sldId id="271" r:id="rId16"/>
    <p:sldId id="268" r:id="rId17"/>
    <p:sldId id="272" r:id="rId18"/>
    <p:sldId id="274" r:id="rId19"/>
    <p:sldId id="275" r:id="rId20"/>
    <p:sldId id="276" r:id="rId21"/>
    <p:sldId id="278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15" autoAdjust="0"/>
    <p:restoredTop sz="94432" autoAdjust="0"/>
  </p:normalViewPr>
  <p:slideViewPr>
    <p:cSldViewPr snapToGrid="0">
      <p:cViewPr varScale="1">
        <p:scale>
          <a:sx n="100" d="100"/>
          <a:sy n="100" d="100"/>
        </p:scale>
        <p:origin x="6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2" d="100"/>
        <a:sy n="15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1:53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 0,'1618'0'0'0,"-521"0"0"0,-277 0 0 0,-817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03.0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 0,'1125'0'0'0,"-1159"0"0"0,20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08.8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 0 0,'2'0'0'0,"-15"0"0"0,727 0 0 0,358 0 0 0,-1093 0 0 0,14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10.5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 1 0 0,'-45'0'0'0,"714"0"0"0,-243 0 0 0,-430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14.6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1 0 0,'-152'0'0'0,"1014"0"0"0,-516 0 0 0,-116 0 0 0,992 0 0 0,-1224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16.4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 0,'1268'0'0'0,"-1278"0"0"0,6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26.4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 0 0 0,'-67'0'0'0,"1064"0"0"0,-334 0 0 0,-655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27.9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 0,'905'0'0'0,"-907"0"0"0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33.8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 0 0,'-27'0'0'0,"24"0"0"0,17 0 0 0,1404 0 0 0,710 0 0 0,-1358 0 0 0,-257 0 0 0,-485 0 0 0,-160 0 0 0,110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35.3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 1 0 0,'-45'0'0'0,"41"0"0"0,6 0 0 0,23 0 0 0,1092 0 0 0,-1123 0 0 0,4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39.7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 0 0 0,'-48'0'0'0,"2004"0"0"0,-1298 0 0 0,-683 0 0 0,17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2:41.1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84 0 0 0,'-83'0'0'0,"811"0"0"0,-737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08:44:12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49 652 7522 0 0,'-3'-3'732'0'0,"-1"-1"0"0"0,1 1 0 0 0,0-1 1 0 0,0 0-1 0 0,0 0 0 0 0,0 0 0 0 0,1-1 1 0 0,0 1-1 0 0,0-1 0 0 0,0 1 0 0 0,1-1 0 0 0,-1 0 1 0 0,1 0-1 0 0,0 1 0 0 0,0-1 0 0 0,0-7 1 0 0,2 7-537 0 0,-1 0 1 0 0,1 0 0 0 0,0 0-1 0 0,0 0 1 0 0,0 0 0 0 0,1 0 0 0 0,0 0-1 0 0,0 1 1 0 0,0-1 0 0 0,0 1-1 0 0,1-1 1 0 0,0 1 0 0 0,0 0 0 0 0,0 0-1 0 0,6-6 1 0 0,38-37 355 0 0,2 3 0 0 0,1 2 0 0 0,92-59 0 0 0,-111 84-429 0 0,0 1-1 0 0,0 2 0 0 0,2 1 0 0 0,-1 1 1 0 0,2 2-1 0 0,-1 1 0 0 0,1 2 0 0 0,51-4 1 0 0,-16 6 2371 0 0,128 6-5683 0 0,-113 6 4747 0 0,-58-4-1365 0 0,1 1 0 0 0,0 2 0 0 0,-1 1 0 0 0,0 1 0 0 0,47 20 1 0 0,-44-13-119 0 0,51 34 1 0 0,-11 4-3010 0 0,25 19 6868 0 0,-53-42-4398 0 0,0 2-1 0 0,-2 2 0 0 0,57 64 0 0 0,-87-87 394 0 0,0 0-1 0 0,-1 1 1 0 0,0 0-1 0 0,-1 1 1 0 0,-1-1 0 0 0,0 1-1 0 0,0 1 1 0 0,-1-1-1 0 0,-1 1 1 0 0,0 0-1 0 0,-1 0 1 0 0,-1 0-1 0 0,0 0 1 0 0,-1 0-1 0 0,0 1 1 0 0,-1-1-1 0 0,-4 27 1 0 0,2-28 80 0 0,0 0 1 0 0,-1 0-1 0 0,-1 0 1 0 0,0 0 0 0 0,0-1-1 0 0,-1 0 1 0 0,-1 0-1 0 0,0 0 1 0 0,-1 0 0 0 0,0-1-1 0 0,0 0 1 0 0,-2-1-1 0 0,1 0 1 0 0,-1 0-1 0 0,0-1 1 0 0,-1 0 0 0 0,0 0-1 0 0,-1-1 1 0 0,0-1-1 0 0,-14 9 1 0 0,-54 27 227 0 0,-1-4 0 0 0,-141 49 0 0 0,181-76-174 0 0,-1-2 0 0 0,1-1 0 0 0,-2-2 0 0 0,1-2 0 0 0,-1-2 0 0 0,1-1 0 0 0,-82-8 0 0 0,83-1-20 0 0,-1-2 0 0 0,1-1 0 0 0,1-2 1 0 0,0-2-1 0 0,1-1 0 0 0,-38-22 0 0 0,21 6-5 0 0,2-2 0 0 0,1-2 0 0 0,-60-54-1 0 0,87 66-30 0 0,0-1-1 0 0,2-1 0 0 0,1-1 0 0 0,0-1 0 0 0,2-1 0 0 0,2-1 0 0 0,0-1 1 0 0,2 0-1 0 0,1-1 0 0 0,-18-58 0 0 0,25 63-12 0 0,1-1 1 0 0,2 0-1 0 0,1 0 1 0 0,1-1-1 0 0,1 1 0 0 0,1-1 1 0 0,2 1-1 0 0,0-1 1 0 0,2 1-1 0 0,2-1 0 0 0,0 1 1 0 0,1 1-1 0 0,20-50 1 0 0,-13 46-88 0 0,2 0 0 0 0,37-53 0 0 0,3 7-135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3T11:30:03.7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 0 0,'2459'0'0'0,"-2445"0"0"0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5872-8A6E-4B52-B2E6-969D688558C1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AD6BC-DDB5-4CDF-8D29-39198E16E6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901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AD6BC-DDB5-4CDF-8D29-39198E16E6E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3417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67204-DA34-3463-C94C-FB847727B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348619-5C61-CC8B-B97E-D41EE1DA0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3C663B-6FD9-B600-5E4D-B52E1CAD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CE7A38-858F-0313-67A3-3A396611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323893-6EC0-72E6-E2D5-25AC4123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73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9B85B2-4125-8C10-066E-DC8662BA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DAA4DD-1861-E59E-F4D2-3093F7032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1347DF-66AC-B100-26EA-7E38112D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9683B7-A872-0914-314F-CC55EEC3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138EF5-51BC-75D5-2310-D3A2BB67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233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A73E4-9E9A-F5DA-DFBD-480AAE2C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781EAD-773C-208C-3B90-2BDF46485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6188C3-0316-056B-F982-F6CD6B3C6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8B9764-288E-C044-2EBF-3A773BF2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A074DB-4427-5917-0437-025A88E5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398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DD63DB-C8E1-A56D-05C0-2D69332E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A29E63-66B2-C8F8-2CB9-DEE7C5F4E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CA3932-522E-7474-929C-86DE084E7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220BD8-F7AA-7D06-C6BE-03E0DAFB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7BBD4A-A7FE-F340-DF69-1BB706A4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942F59-7AF5-6194-FDAD-861C8D11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444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B0A18-F20F-6C95-5358-1EF9FD08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A0D078-42C7-7E49-AB3B-A6161DE50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F4C95E-9922-E454-6D31-C1E3752B6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AC51704-C741-F850-631B-B108887A9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E6DFF66-ABED-BE95-ADE1-DE9BEB166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5B41842-A6E3-7276-DA01-D08D1A4C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ED866E-B57B-D46B-957C-264CFBF9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C846979-6BEF-3852-0790-34E210A3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6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D7DDD2-44A0-16E9-3E6E-FD5881BE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249EA0C-B785-1E8D-7436-81263177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E034C7-954C-D889-AB4F-676F60DE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15E1E7-7221-F39B-B2FA-7BC98CBC8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74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912CE90-E866-6E4A-B3FF-8A2E29FC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7C9AB0C-D762-404A-4817-25F62B40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59E2DE-07D0-83C1-0461-B1AB6892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819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2AA350-ED0B-4E16-44CB-33FB277F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E46B23-02E9-A9FA-2C7A-E9182D5D5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CFD000-DBF2-EB0E-3CDE-FD4237C55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EEE68F-D673-2FB9-DA15-DA78ED49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8AC363-C1F1-0861-5BB0-5984C9AC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A21AC3-1A0E-E645-FF99-3C3C07C3D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179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8DB521-2130-285B-8721-BFCEA94A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0288BC-11D3-E02C-41FD-A5C1053A04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73C227-71CF-BA5A-5E50-5C9E3C7E0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A7928E-9BD6-08DA-0670-AF3C898A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6C7ECC-2971-3BDF-F80D-7B8D4F50D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9AE105-0132-86A8-D1F3-0DB814B6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28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7F016D-808D-A50F-C462-CB2984B1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0BC9B9-A731-8D7E-9933-8D82F799C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C76CF5-BF0B-B5DA-259E-CBBEAFDA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D93C0C-8E5C-0996-43DE-A4C5C0CD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6B5FB-ED5D-BA19-61A1-E923318D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32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08C9A89-8ECD-AEDF-9FB8-543CD523C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7C524D-8D74-64A3-FC6E-B615BC720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952390-1D26-8B8E-2056-8ECCF0E0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7FD1BF-3F4C-92BC-1F72-D3D80F9D6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3BC6E7-E846-BB7B-5D61-47C9F2680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63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C71FD4-FBF8-5B29-9C7D-FC5144534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418F7F-9E9D-5A57-6A04-78442A850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41E850-2D91-8625-A075-42EE82BA5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21835-5CE9-4965-B2F8-19C3B24AD8C6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C70A2-D295-2D32-3535-E2AEDF594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E7DFAC-327D-03FA-8D1B-09A8051C5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D4FCF-84E9-4D59-B88D-CE5FBF1A9E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35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Noel.Emele@bwz-rappi.ch" TargetMode="External"/><Relationship Id="rId7" Type="http://schemas.openxmlformats.org/officeDocument/2006/relationships/image" Target="../media/image8.svg"/><Relationship Id="rId2" Type="http://schemas.openxmlformats.org/officeDocument/2006/relationships/hyperlink" Target="mailto:Silvan.Gehrig@bwz-rappi.ch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mailto:Florian.Elser@bwz-rappi.ch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200.png"/><Relationship Id="rId26" Type="http://schemas.openxmlformats.org/officeDocument/2006/relationships/image" Target="../media/image241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image" Target="../media/image28.svg"/><Relationship Id="rId2" Type="http://schemas.openxmlformats.org/officeDocument/2006/relationships/image" Target="../media/image29.png"/><Relationship Id="rId16" Type="http://schemas.openxmlformats.org/officeDocument/2006/relationships/image" Target="../media/image180.png"/><Relationship Id="rId20" Type="http://schemas.openxmlformats.org/officeDocument/2006/relationships/image" Target="../media/image2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customXml" Target="../ink/ink5.xml"/><Relationship Id="rId24" Type="http://schemas.openxmlformats.org/officeDocument/2006/relationships/image" Target="../media/image230.png"/><Relationship Id="rId32" Type="http://schemas.openxmlformats.org/officeDocument/2006/relationships/image" Target="../media/image27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40.png"/><Relationship Id="rId10" Type="http://schemas.openxmlformats.org/officeDocument/2006/relationships/image" Target="../media/image170.png"/><Relationship Id="rId19" Type="http://schemas.openxmlformats.org/officeDocument/2006/relationships/customXml" Target="../ink/ink9.xml"/><Relationship Id="rId31" Type="http://schemas.openxmlformats.org/officeDocument/2006/relationships/image" Target="../media/image30.png"/><Relationship Id="rId4" Type="http://schemas.openxmlformats.org/officeDocument/2006/relationships/image" Target="../media/image140.png"/><Relationship Id="rId9" Type="http://schemas.openxmlformats.org/officeDocument/2006/relationships/customXml" Target="../ink/ink4.xml"/><Relationship Id="rId14" Type="http://schemas.openxmlformats.org/officeDocument/2006/relationships/image" Target="../media/image190.png"/><Relationship Id="rId22" Type="http://schemas.openxmlformats.org/officeDocument/2006/relationships/image" Target="../media/image22.png"/><Relationship Id="rId27" Type="http://schemas.openxmlformats.org/officeDocument/2006/relationships/customXml" Target="../ink/ink13.xml"/><Relationship Id="rId30" Type="http://schemas.openxmlformats.org/officeDocument/2006/relationships/image" Target="../media/image250.png"/><Relationship Id="rId8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hyperlink" Target="http://127.0.0.1:5500/slarachare_games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3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3090" name="Group 3089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3091" name="Freeform: Shape 3090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92" name="Freeform: Shape 3091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93" name="Freeform: Shape 3092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94" name="Freeform: Shape 3093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95" name="Freeform: Shape 3094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96" name="Freeform: Shape 3095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97" name="Freeform: Shape 3096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05A0E48-E9B6-9DDF-6D45-7F6D9FFF4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1497563"/>
            <a:ext cx="6105194" cy="2031055"/>
          </a:xfrm>
        </p:spPr>
        <p:txBody>
          <a:bodyPr>
            <a:normAutofit/>
          </a:bodyPr>
          <a:lstStyle/>
          <a:p>
            <a:r>
              <a:rPr lang="de-DE" sz="5200" noProof="0" dirty="0">
                <a:solidFill>
                  <a:schemeClr val="tx2"/>
                </a:solidFill>
              </a:rPr>
              <a:t>Projektarbeit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D522145-8241-AAE1-C02B-445120F1F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3897659"/>
            <a:ext cx="6105194" cy="682079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tx2"/>
                </a:solidFill>
              </a:rPr>
              <a:t>Mit </a:t>
            </a:r>
            <a:r>
              <a:rPr lang="de-DE" b="1" dirty="0">
                <a:solidFill>
                  <a:srgbClr val="C00000"/>
                </a:solidFill>
              </a:rPr>
              <a:t>I</a:t>
            </a:r>
            <a:r>
              <a:rPr lang="de-DE" b="1" dirty="0">
                <a:solidFill>
                  <a:schemeClr val="accent2"/>
                </a:solidFill>
              </a:rPr>
              <a:t>P</a:t>
            </a:r>
            <a:r>
              <a:rPr lang="de-DE" b="1" dirty="0">
                <a:solidFill>
                  <a:srgbClr val="FFC000"/>
                </a:solidFill>
              </a:rPr>
              <a:t>E</a:t>
            </a:r>
            <a:r>
              <a:rPr lang="de-DE" b="1" dirty="0">
                <a:solidFill>
                  <a:srgbClr val="00B050"/>
                </a:solidFill>
              </a:rPr>
              <a:t>R</a:t>
            </a:r>
            <a:r>
              <a:rPr lang="de-DE" b="1" dirty="0">
                <a:solidFill>
                  <a:schemeClr val="accent3"/>
                </a:solidFill>
              </a:rPr>
              <a:t>K</a:t>
            </a:r>
            <a:r>
              <a:rPr lang="de-DE" b="1" dirty="0">
                <a:solidFill>
                  <a:srgbClr val="0070C0"/>
                </a:solidFill>
              </a:rPr>
              <a:t>A</a:t>
            </a:r>
            <a:endParaRPr lang="de-DE" b="1" noProof="0" dirty="0">
              <a:solidFill>
                <a:srgbClr val="0070C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8B8A39-962A-A775-FD6E-93725B0F7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047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1E5B537-D29A-BF94-198A-18F2F5D5A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rgbClr val="C00000"/>
                </a:solidFill>
                <a:latin typeface="Orbitron" pitchFamily="2" charset="0"/>
              </a:rPr>
              <a:t>Informieren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8BEA99-3A8E-E16B-E56D-42E816167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247" y="993604"/>
            <a:ext cx="5221224" cy="523036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tx2"/>
                </a:solidFill>
              </a:rPr>
              <a:t> Anforderungen gelesen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tx2"/>
                </a:solidFill>
              </a:rPr>
              <a:t> IPERKA aufgefrischt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tx2"/>
                </a:solidFill>
              </a:rPr>
              <a:t> Ziele definiert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tx2"/>
                </a:solidFill>
              </a:rPr>
              <a:t> Rollen verteilt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4BEAA74-B5A0-CEC0-60AA-3E3D850E0B5E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Geöffnetes Buch Silhouette">
            <a:extLst>
              <a:ext uri="{FF2B5EF4-FFF2-40B4-BE49-F238E27FC236}">
                <a16:creationId xmlns:a16="http://schemas.microsoft.com/office/drawing/2014/main" id="{3C400A55-57D9-64AA-2294-4B3A07546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83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05A03-95C0-E6FC-B201-94B9FDEB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B44EF0-793C-F61C-321B-25ABCDCE7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85A13E-A917-8FEE-6B0F-ADDE46B4B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0511A5-9452-A925-2CF2-BAECECAB7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501B13A-3607-41B6-8663-24A10FEF2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BE44C1C-AFED-5E8F-51BB-4F154B4F0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D0EC66-98FC-8097-3172-49F06CFA9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D9DC1F-A193-C199-98A6-A7C479EE6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7684560-A453-F73D-35BD-8F469B64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64" y="1269907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rgbClr val="C00000"/>
                </a:solidFill>
                <a:latin typeface="Orbitron" pitchFamily="2" charset="0"/>
              </a:rPr>
              <a:t>Unsere 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31D7DE-798C-6876-C284-26D6DAE0D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650" y="1020498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CH" sz="2400" b="1" dirty="0"/>
              <a:t>Als Benutzer möchte ich …</a:t>
            </a:r>
            <a:endParaRPr lang="de-DE" sz="2400" dirty="0"/>
          </a:p>
          <a:p>
            <a:endParaRPr lang="de-DE" sz="1200" dirty="0"/>
          </a:p>
          <a:p>
            <a:pPr lvl="0"/>
            <a:r>
              <a:rPr lang="de-CH" sz="1400" dirty="0"/>
              <a:t>Das Game downloaden können</a:t>
            </a:r>
            <a:endParaRPr lang="de-DE" sz="1400" dirty="0"/>
          </a:p>
          <a:p>
            <a:pPr lvl="0"/>
            <a:r>
              <a:rPr lang="de-CH" sz="1400" dirty="0"/>
              <a:t>Einen </a:t>
            </a:r>
            <a:r>
              <a:rPr lang="de-CH" sz="1400" dirty="0" err="1"/>
              <a:t>Footer</a:t>
            </a:r>
            <a:r>
              <a:rPr lang="de-CH" sz="1400" dirty="0"/>
              <a:t> mit Copyright © und Lizenz Infos</a:t>
            </a:r>
            <a:endParaRPr lang="de-DE" sz="1400" dirty="0"/>
          </a:p>
          <a:p>
            <a:pPr lvl="0"/>
            <a:r>
              <a:rPr lang="de-CH" sz="1400" dirty="0"/>
              <a:t>Einen </a:t>
            </a:r>
            <a:r>
              <a:rPr lang="de-CH" sz="1400" dirty="0" err="1"/>
              <a:t>Accessibility</a:t>
            </a:r>
            <a:r>
              <a:rPr lang="de-CH" sz="1400" dirty="0"/>
              <a:t> Mode für Sehbeeinträchtigte</a:t>
            </a:r>
            <a:endParaRPr lang="de-DE" sz="1400" dirty="0"/>
          </a:p>
          <a:p>
            <a:pPr lvl="0"/>
            <a:r>
              <a:rPr lang="de-CH" sz="1400" dirty="0"/>
              <a:t>Eine übersichtliche Homepage</a:t>
            </a:r>
            <a:endParaRPr lang="de-DE" sz="1400" dirty="0"/>
          </a:p>
          <a:p>
            <a:pPr lvl="0"/>
            <a:r>
              <a:rPr lang="de-CH" sz="1400" dirty="0"/>
              <a:t>Einen Header der beim Scrollen </a:t>
            </a:r>
            <a:r>
              <a:rPr lang="de-CH" sz="1400" dirty="0" err="1"/>
              <a:t>sticky</a:t>
            </a:r>
            <a:r>
              <a:rPr lang="de-CH" sz="1400" dirty="0"/>
              <a:t> wird</a:t>
            </a:r>
            <a:endParaRPr lang="de-DE" sz="1400" dirty="0"/>
          </a:p>
          <a:p>
            <a:pPr lvl="0"/>
            <a:r>
              <a:rPr lang="de-CH" sz="1400" dirty="0"/>
              <a:t>Einen </a:t>
            </a:r>
            <a:r>
              <a:rPr lang="de-CH" sz="1400" dirty="0" err="1"/>
              <a:t>Gameplayguide</a:t>
            </a:r>
            <a:r>
              <a:rPr lang="de-CH" sz="1400" dirty="0"/>
              <a:t> erhalten</a:t>
            </a:r>
            <a:endParaRPr lang="de-DE" sz="1400" dirty="0"/>
          </a:p>
          <a:p>
            <a:pPr lvl="0"/>
            <a:r>
              <a:rPr lang="de-CH" sz="1400" dirty="0"/>
              <a:t>Einen Supportbutton erhalten</a:t>
            </a:r>
            <a:endParaRPr lang="de-DE" sz="1400" dirty="0"/>
          </a:p>
          <a:p>
            <a:pPr lvl="0"/>
            <a:r>
              <a:rPr lang="de-CH" sz="1400" dirty="0"/>
              <a:t>Eine Info über die Autoren erhalten</a:t>
            </a:r>
            <a:endParaRPr lang="de-DE" sz="1400" dirty="0"/>
          </a:p>
          <a:p>
            <a:pPr lvl="0"/>
            <a:r>
              <a:rPr lang="de-CH" sz="1400" dirty="0"/>
              <a:t>Einen guten Farbkontrast</a:t>
            </a:r>
            <a:endParaRPr lang="de-DE" sz="1400" dirty="0"/>
          </a:p>
          <a:p>
            <a:pPr lvl="0"/>
            <a:r>
              <a:rPr lang="de-CH" sz="1400" dirty="0"/>
              <a:t>Einen Medienauftritt vom Hersteller</a:t>
            </a:r>
            <a:endParaRPr lang="de-DE" sz="1400" dirty="0"/>
          </a:p>
          <a:p>
            <a:endParaRPr lang="de-DE" dirty="0"/>
          </a:p>
        </p:txBody>
      </p:sp>
      <p:pic>
        <p:nvPicPr>
          <p:cNvPr id="1026" name="Picture 2" descr="User PNGs for Free Download">
            <a:extLst>
              <a:ext uri="{FF2B5EF4-FFF2-40B4-BE49-F238E27FC236}">
                <a16:creationId xmlns:a16="http://schemas.microsoft.com/office/drawing/2014/main" id="{EFAF677A-E9E5-8BE1-02A3-4106D8B50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208" y="1357258"/>
            <a:ext cx="824056" cy="49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3A36DF70-FCF6-511E-62B4-2E33DF014956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Grafik 6" descr="Volltreffer Silhouette">
            <a:extLst>
              <a:ext uri="{FF2B5EF4-FFF2-40B4-BE49-F238E27FC236}">
                <a16:creationId xmlns:a16="http://schemas.microsoft.com/office/drawing/2014/main" id="{50FAE4F6-34F8-357E-DC36-17635A8A9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3779" y="5088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77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CA2F5-EBB6-B652-36C7-434A39EC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199752-1F67-A6D3-38C8-305EED099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17DB04-90A8-7146-B11E-BE03C15AE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81191A-C1FB-3FCC-A36A-A6E067F25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54E007-336A-DA3E-AA79-2BE873808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3117AC-2CCC-E1D4-50A1-B0EE5CB28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C2FB99-E09B-06F0-773C-A0706D0A0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B16814-402A-FC88-FC1F-B73F1A932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44D423C-8ED6-165C-3690-2ECA99F7E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529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rgbClr val="C00000"/>
                </a:solidFill>
                <a:latin typeface="Orbitron" pitchFamily="2" charset="0"/>
              </a:rPr>
              <a:t>Unsere Rollen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053A3FF-FD98-7DC3-92AA-F97162606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2109" y="2596607"/>
            <a:ext cx="6009750" cy="40805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sz="1800" b="1" dirty="0"/>
              <a:t>Stakeholder: </a:t>
            </a:r>
            <a:r>
              <a:rPr lang="de-CH" sz="1800" u="sng" dirty="0">
                <a:hlinkClick r:id="rId2"/>
              </a:rPr>
              <a:t>Silvan Gehrig</a:t>
            </a:r>
            <a:r>
              <a:rPr lang="de-CH" sz="1800" dirty="0"/>
              <a:t> </a:t>
            </a:r>
            <a:endParaRPr lang="de-DE" sz="1800" dirty="0"/>
          </a:p>
          <a:p>
            <a:pPr marL="0" indent="0">
              <a:buNone/>
            </a:pPr>
            <a:endParaRPr lang="de-CH" sz="1800" dirty="0"/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CH" sz="1800" b="1" dirty="0" err="1"/>
              <a:t>Product</a:t>
            </a:r>
            <a:r>
              <a:rPr lang="de-CH" sz="1800" b="1" dirty="0"/>
              <a:t> </a:t>
            </a:r>
            <a:r>
              <a:rPr lang="de-CH" sz="1800" b="1" dirty="0" err="1"/>
              <a:t>Owners</a:t>
            </a:r>
            <a:r>
              <a:rPr lang="de-CH" sz="1800" b="1" dirty="0"/>
              <a:t>:</a:t>
            </a:r>
            <a:endParaRPr lang="de-DE" sz="1800" dirty="0"/>
          </a:p>
          <a:p>
            <a:endParaRPr lang="de-DE" sz="1800" dirty="0"/>
          </a:p>
          <a:p>
            <a:r>
              <a:rPr lang="de-CH" sz="1800" dirty="0"/>
              <a:t>Chief Engineer / Designer / QA Analyst: </a:t>
            </a:r>
            <a:r>
              <a:rPr lang="de-CH" sz="1800" u="sng" dirty="0">
                <a:hlinkClick r:id="rId3"/>
              </a:rPr>
              <a:t>Noel Emele</a:t>
            </a:r>
            <a:endParaRPr lang="de-DE" sz="1800" dirty="0"/>
          </a:p>
          <a:p>
            <a:pPr marL="0" indent="0">
              <a:buNone/>
            </a:pPr>
            <a:endParaRPr lang="de-DE" sz="1800" dirty="0"/>
          </a:p>
          <a:p>
            <a:r>
              <a:rPr lang="de-CH" sz="1800" dirty="0"/>
              <a:t>Developer:  </a:t>
            </a:r>
            <a:r>
              <a:rPr lang="de-CH" sz="1800" u="sng" dirty="0">
                <a:hlinkClick r:id="rId4"/>
              </a:rPr>
              <a:t>Florian Elser</a:t>
            </a:r>
            <a:endParaRPr lang="de-DE" sz="1800" dirty="0"/>
          </a:p>
          <a:p>
            <a:endParaRPr lang="de-DE" sz="1800" dirty="0"/>
          </a:p>
        </p:txBody>
      </p:sp>
      <p:pic>
        <p:nvPicPr>
          <p:cNvPr id="6" name="Grafik 5" descr="Ein Bild, das Schuhwerk, Kleidung, Text, Cartoon enthält.&#10;&#10;KI-generierte Inhalte können fehlerhaft sein.">
            <a:extLst>
              <a:ext uri="{FF2B5EF4-FFF2-40B4-BE49-F238E27FC236}">
                <a16:creationId xmlns:a16="http://schemas.microsoft.com/office/drawing/2014/main" id="{B4B82D56-33BC-7E5C-5CFA-C95CD0E1F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946" y="1781040"/>
            <a:ext cx="2320601" cy="2270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F58E07C-14E3-996E-7421-84BD944B62A9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 descr="Gruppe von Männern Silhouette">
            <a:extLst>
              <a:ext uri="{FF2B5EF4-FFF2-40B4-BE49-F238E27FC236}">
                <a16:creationId xmlns:a16="http://schemas.microsoft.com/office/drawing/2014/main" id="{DC6CD4CF-7431-4E47-778F-36763EFD7F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46493" y="4588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160EF-E0CB-EEA5-DC90-0DACCE83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564571-F9E4-2329-1609-3B7836FF3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361B0-1BA5-361D-309E-D3F15017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BBEA45-BBE3-3026-7F1C-E1C468CEC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9D27594-B03B-ADEC-9C0F-FF351CC3B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075C4EA-AB52-9A36-35D9-D83BA9270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790B0EA-A759-A064-3058-2A6B89226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DD342FA-2DB8-8AF5-610E-5F3A86599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D0A7B3B-F01B-709E-7EF9-3C352DEC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87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Planen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F493718-6165-332D-BF6E-CA26B0A66670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C87CE0-08EA-FF06-DAF3-E6D04AE75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247" y="993604"/>
            <a:ext cx="5221224" cy="523036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tx2"/>
                </a:solidFill>
              </a:rPr>
              <a:t> </a:t>
            </a:r>
            <a:r>
              <a:rPr lang="de-DE" sz="2400" dirty="0">
                <a:solidFill>
                  <a:schemeClr val="tx2"/>
                </a:solidFill>
              </a:rPr>
              <a:t>Brainstorming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24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2400" dirty="0">
                <a:solidFill>
                  <a:schemeClr val="tx2"/>
                </a:solidFill>
              </a:rPr>
              <a:t> Wireframes 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sz="24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2400" dirty="0">
                <a:solidFill>
                  <a:schemeClr val="tx2"/>
                </a:solidFill>
              </a:rPr>
              <a:t> Zeitplanung</a:t>
            </a:r>
          </a:p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</p:txBody>
      </p:sp>
      <p:pic>
        <p:nvPicPr>
          <p:cNvPr id="7" name="Grafik 6" descr="Blaupause Silhouette">
            <a:extLst>
              <a:ext uri="{FF2B5EF4-FFF2-40B4-BE49-F238E27FC236}">
                <a16:creationId xmlns:a16="http://schemas.microsoft.com/office/drawing/2014/main" id="{1362A8C2-364F-80F6-B741-EF0BA0A52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6872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6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22864-8BEF-4F45-F4ED-ECBA20D9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677BF0-BA4C-ACC3-36D7-2BF0C4A14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BA98F3-9B2A-52B8-F9CA-BCEABB645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6F9748-5F30-2392-0A74-4CCC7799E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C6D713D-5C78-B35E-2AB0-56C000461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EB0574F-8C08-F64F-8ACA-B4105A8DA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60872C-944E-E487-7575-8A1D93AFD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1F373BD-7C6A-8711-10B6-4729CDBD0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51989D3-040B-D03C-64F2-D89A0A97C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529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Brainstorming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AD71FB-B40C-71DE-A41A-BF316A407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247" y="993604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40F5775-A23F-24AA-16A4-F21418F0A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689" y="2356651"/>
            <a:ext cx="3726562" cy="2789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36ACA2A-1729-38CA-C8B8-F2F2F5D1B0D0}"/>
              </a:ext>
            </a:extLst>
          </p:cNvPr>
          <p:cNvSpPr txBox="1"/>
          <p:nvPr/>
        </p:nvSpPr>
        <p:spPr>
          <a:xfrm>
            <a:off x="6690689" y="1629017"/>
            <a:ext cx="2564781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400" dirty="0"/>
              <a:t>Mindmap: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832A149-F5B4-E08D-330C-94BDE230BBDB}"/>
              </a:ext>
            </a:extLst>
          </p:cNvPr>
          <p:cNvSpPr/>
          <p:nvPr/>
        </p:nvSpPr>
        <p:spPr>
          <a:xfrm>
            <a:off x="10810984" y="-1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" name="Grafik 8" descr="Kopf mit Zahnrädern Silhouette">
            <a:extLst>
              <a:ext uri="{FF2B5EF4-FFF2-40B4-BE49-F238E27FC236}">
                <a16:creationId xmlns:a16="http://schemas.microsoft.com/office/drawing/2014/main" id="{8E9DF06F-B478-B573-94B0-C6CB89DD6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6575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683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382AB-13D7-330A-095F-8FEA6D7C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97D57D-DD5C-F874-5FE0-0588290E6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EC7B3C-2875-8C2E-901E-26528D11F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4C7F7A-8A86-D6C8-561F-704257696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BEA2765-98E6-68F5-665C-8A3924327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A1F8624-C406-AD79-B29F-E89BA6968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53F8B91-C7F9-94E0-3A39-F4C0A09E3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7F4822D-BA6B-8B13-27AC-973D94ABD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967FB8B-B866-143D-7AD1-D6BA5C117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023" y="99360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Brainstorming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310CD6-B1BC-A381-3359-E1657BD11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247" y="993604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1A9F240-5EF5-803D-8EC9-BCEE2E3284CE}"/>
              </a:ext>
            </a:extLst>
          </p:cNvPr>
          <p:cNvSpPr txBox="1"/>
          <p:nvPr/>
        </p:nvSpPr>
        <p:spPr>
          <a:xfrm>
            <a:off x="616450" y="3105834"/>
            <a:ext cx="2564781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  <a:ea typeface="+mj-ea"/>
                <a:cs typeface="+mj-cs"/>
              </a:rPr>
              <a:t>Mindmap: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F186842-CBAC-6B58-6CD7-C7963EC0D32B}"/>
              </a:ext>
            </a:extLst>
          </p:cNvPr>
          <p:cNvSpPr/>
          <p:nvPr/>
        </p:nvSpPr>
        <p:spPr>
          <a:xfrm>
            <a:off x="10810984" y="14036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Grafik 6" descr="Kopf mit Zahnrädern Silhouette">
            <a:extLst>
              <a:ext uri="{FF2B5EF4-FFF2-40B4-BE49-F238E27FC236}">
                <a16:creationId xmlns:a16="http://schemas.microsoft.com/office/drawing/2014/main" id="{72388D96-B615-21F4-7292-D7B81BA9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6575" y="508838"/>
            <a:ext cx="914400" cy="9144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7991167-59B3-0575-92E7-26A5D6514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018" y="483735"/>
            <a:ext cx="7968752" cy="5965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217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36E87-31E0-D4D3-E0C4-AB8B5E0D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34DCB6-58EA-50C6-9560-F04ADED4F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2B501B-FFF0-DC08-9592-E409953CD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6AE1210-EA3E-9AD2-6D8D-0EB116DA8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2E95D4A-7620-6091-0092-522C03FC8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7D5197B-1ED3-B32B-CF00-DF6215DBF4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A1291DA-2348-6292-2DDD-AC17B1452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2241515-2E36-19BA-CBAB-A399EC1B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9B091EC-C7CA-E4D7-1574-52F7C77CA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34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Wireframes</a:t>
            </a:r>
          </a:p>
        </p:txBody>
      </p:sp>
      <p:pic>
        <p:nvPicPr>
          <p:cNvPr id="7" name="Grafik 6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0AB98F52-75DC-A194-BC07-013057D8A4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662" y="2630989"/>
            <a:ext cx="1728280" cy="189183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9" name="Grafik 8" descr="Ein Bild, das Grafiken, Clipart, Grün, Grafikdesign enthält.&#10;&#10;KI-generierte Inhalte können fehlerhaft sein.">
            <a:extLst>
              <a:ext uri="{FF2B5EF4-FFF2-40B4-BE49-F238E27FC236}">
                <a16:creationId xmlns:a16="http://schemas.microsoft.com/office/drawing/2014/main" id="{4518431B-AE4E-43A5-EAE8-236B291D4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032" y="2744654"/>
            <a:ext cx="1221905" cy="122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470DACE-E528-89BA-67B7-0D3D6BBF9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832" y="2616594"/>
            <a:ext cx="1875338" cy="190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AE78831-089E-8AE9-8E05-A5BDE4C24CC9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 descr="Architektur Silhouette">
            <a:extLst>
              <a:ext uri="{FF2B5EF4-FFF2-40B4-BE49-F238E27FC236}">
                <a16:creationId xmlns:a16="http://schemas.microsoft.com/office/drawing/2014/main" id="{FA39A3B7-929F-FE82-F569-8E3B298538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52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F214B-F5FC-BD54-79F0-C952FBFF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Grafiken, Clipart, Grün, Grafikdesign enthält.&#10;&#10;KI-generierte Inhalte können fehlerhaft sein.">
            <a:extLst>
              <a:ext uri="{FF2B5EF4-FFF2-40B4-BE49-F238E27FC236}">
                <a16:creationId xmlns:a16="http://schemas.microsoft.com/office/drawing/2014/main" id="{E66DB2BC-E41F-9F1F-A304-BA8728A7A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032" y="2744654"/>
            <a:ext cx="1221905" cy="1221905"/>
          </a:xfrm>
          <a:prstGeom prst="rect">
            <a:avLst/>
          </a:prstGeom>
          <a:noFill/>
          <a:ln>
            <a:noFill/>
          </a:ln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F0FCAEC-9558-2EC4-54E1-94C51CC92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723DAF-3D62-0697-A1FD-66A580DAB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CAABCDE-73B7-849D-2E80-593B0B0DE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DCA15A-E3E7-1A4E-31F9-100F9A78E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3367148-2288-BD0D-5287-9A8FDE1E73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E9FDDF2-900F-2326-EBF6-D1A722AB9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EF47345-BFC1-C2C1-1917-11E6732ACF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01A6880-E9BF-44C2-EC69-86DC8D4EF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34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Wireframes</a:t>
            </a:r>
          </a:p>
        </p:txBody>
      </p:sp>
      <p:pic>
        <p:nvPicPr>
          <p:cNvPr id="7" name="Grafik 6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0F403A2C-93DF-93D3-5B80-222BDF8540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662" y="2630989"/>
            <a:ext cx="1728280" cy="189183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E37E6C66-F3D9-2251-6AC0-C15994879025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Architektur Silhouette">
            <a:extLst>
              <a:ext uri="{FF2B5EF4-FFF2-40B4-BE49-F238E27FC236}">
                <a16:creationId xmlns:a16="http://schemas.microsoft.com/office/drawing/2014/main" id="{EDE71AEB-DAAD-6E46-D2F1-3D6A1B1C2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535C789-34BB-9F5C-88C3-A864A920F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778" y="392924"/>
            <a:ext cx="5973760" cy="607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448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72D08-8750-F1F9-0A42-68341B1F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AE6990-31D6-D356-7F62-2D22C7CEC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87FCB7-C127-3724-EEE4-A3C6601E9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D1EDD-0324-B3EF-417A-DF4576A62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5FC24BE-9106-A4DD-9938-1C75176D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65065BA-A43E-E92A-E821-DA26102BC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041C5AB-C25D-68D3-DDFA-E1B3B8A97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EE965C-1BC5-A9B8-DC41-DA9C2A46E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A571700-FC19-F9B8-8E7D-FB2B84CB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34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Wireframes</a:t>
            </a:r>
          </a:p>
        </p:txBody>
      </p:sp>
      <p:pic>
        <p:nvPicPr>
          <p:cNvPr id="7" name="Grafik 6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8D5A05B8-67C1-2FA8-4737-955872528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662" y="2630989"/>
            <a:ext cx="1728280" cy="189183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9" name="Grafik 8" descr="Ein Bild, das Grafiken, Clipart, Grün, Grafikdesign enthält.&#10;&#10;KI-generierte Inhalte können fehlerhaft sein.">
            <a:extLst>
              <a:ext uri="{FF2B5EF4-FFF2-40B4-BE49-F238E27FC236}">
                <a16:creationId xmlns:a16="http://schemas.microsoft.com/office/drawing/2014/main" id="{3A38071C-7567-2A48-9174-FAEFF7DC3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032" y="2744654"/>
            <a:ext cx="1221905" cy="1221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1158811-32DA-9CD6-BCDC-E2FA4B3BC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674" y="2630989"/>
            <a:ext cx="1875338" cy="190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9003919-E4C5-06B1-C3EE-6DDD302E502D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Architektur Silhouette">
            <a:extLst>
              <a:ext uri="{FF2B5EF4-FFF2-40B4-BE49-F238E27FC236}">
                <a16:creationId xmlns:a16="http://schemas.microsoft.com/office/drawing/2014/main" id="{CCFD7D9C-1191-E6C3-555B-C9A2CC8643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31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4E66A-F34B-1379-EF47-F9C31E1C2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E06950-3413-03CD-D295-9074E9030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D1DAFD-0BBB-30DA-8845-E72F07FB6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84AA38-199F-B830-CECB-B9E7D59A9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64D5F9D-D696-B502-5B83-85AAEFF67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F9F579B-172A-0AA4-4BA0-C6EA82E6A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E0D3799-CF13-9806-92BC-B17DC853FC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5E671ED-EBD7-5244-BE31-C0B084886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4B8A432-B8EB-6306-BC39-1B62DAE2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34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Wireframes</a:t>
            </a:r>
          </a:p>
        </p:txBody>
      </p:sp>
      <p:pic>
        <p:nvPicPr>
          <p:cNvPr id="6" name="Grafik 5" descr="Ein Bild, das Text, Screenshot, Software, Design enthält.&#10;&#10;KI-generierte Inhalte können fehlerhaft sein.">
            <a:extLst>
              <a:ext uri="{FF2B5EF4-FFF2-40B4-BE49-F238E27FC236}">
                <a16:creationId xmlns:a16="http://schemas.microsoft.com/office/drawing/2014/main" id="{57CBD759-F1C9-36CA-B9B9-D12E7E0626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299" y="2706030"/>
            <a:ext cx="1687917" cy="1814249"/>
          </a:xfrm>
          <a:prstGeom prst="rect">
            <a:avLst/>
          </a:prstGeom>
          <a:effectLst>
            <a:glow rad="101600">
              <a:srgbClr val="EE0000">
                <a:alpha val="60000"/>
              </a:srgbClr>
            </a:glow>
          </a:effectLst>
        </p:spPr>
      </p:pic>
      <p:pic>
        <p:nvPicPr>
          <p:cNvPr id="9" name="Grafik 8" descr="Ein Bild, das Grafiken, Clipart, Grün, Grafikdesign enthält.&#10;&#10;KI-generierte Inhalte können fehlerhaft sein.">
            <a:extLst>
              <a:ext uri="{FF2B5EF4-FFF2-40B4-BE49-F238E27FC236}">
                <a16:creationId xmlns:a16="http://schemas.microsoft.com/office/drawing/2014/main" id="{8E0699DC-87FB-10DD-A56B-FDD5AAD91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032" y="2744654"/>
            <a:ext cx="1221905" cy="12219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0E4CA6C-CE6C-1E9F-3D49-A6452A4ECD47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Architektur Silhouette">
            <a:extLst>
              <a:ext uri="{FF2B5EF4-FFF2-40B4-BE49-F238E27FC236}">
                <a16:creationId xmlns:a16="http://schemas.microsoft.com/office/drawing/2014/main" id="{679B0DEA-6B84-CA55-FE60-549051D62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ECEFE53-D702-3FE2-FCF9-0428E82DA7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164" y="344849"/>
            <a:ext cx="5669014" cy="616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21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B334E-4544-F945-6785-7AD0D063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EA0F26-1B34-0A77-4516-9A0EC4999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1780EF-899C-C3DE-346A-CF4304A8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18308C-F213-AF92-3E72-71D7AEC7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33F586F-765A-A6C7-DCCC-AACE94108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0E3EC44-9227-4381-140C-1C5AF3D6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188C6C-8C23-1AA8-F45C-0584BF6FF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1223249-BB02-7CBE-2706-0CFD1434C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BE6D98C-B8CC-A440-2545-CD034F793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183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Vergleich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A197420-B2A1-DF68-1092-91956AA62E43}"/>
              </a:ext>
            </a:extLst>
          </p:cNvPr>
          <p:cNvSpPr txBox="1"/>
          <p:nvPr/>
        </p:nvSpPr>
        <p:spPr>
          <a:xfrm>
            <a:off x="5841158" y="1318138"/>
            <a:ext cx="572429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Gemeinsame Vorteile:</a:t>
            </a:r>
          </a:p>
          <a:p>
            <a:r>
              <a:rPr lang="de-DE" sz="1400" dirty="0"/>
              <a:t>✅ Modernes Design (Übergänge, knallige Farben)</a:t>
            </a:r>
          </a:p>
          <a:p>
            <a:r>
              <a:rPr lang="de-DE" sz="1400" dirty="0"/>
              <a:t>✅ Gute Performance (wenig große Bilder)</a:t>
            </a:r>
          </a:p>
          <a:p>
            <a:r>
              <a:rPr lang="de-DE" sz="1400" dirty="0"/>
              <a:t>✅ Gut machbar und umsetzbar</a:t>
            </a:r>
          </a:p>
          <a:p>
            <a:r>
              <a:rPr lang="de-DE" sz="1400" dirty="0"/>
              <a:t>✅ Keine Kosten </a:t>
            </a:r>
            <a:endParaRPr lang="de-DE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1FC34EF-7945-2F0B-A48C-4EB5FF661962}"/>
              </a:ext>
            </a:extLst>
          </p:cNvPr>
          <p:cNvSpPr txBox="1"/>
          <p:nvPr/>
        </p:nvSpPr>
        <p:spPr>
          <a:xfrm>
            <a:off x="5841158" y="3077649"/>
            <a:ext cx="617034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rgbClr val="C00000"/>
                </a:solidFill>
              </a:rPr>
              <a:t>Rotes Wireframe</a:t>
            </a:r>
            <a:r>
              <a:rPr lang="de-DE" sz="1400" b="1" dirty="0"/>
              <a:t>:</a:t>
            </a:r>
          </a:p>
          <a:p>
            <a:pPr>
              <a:buNone/>
            </a:pPr>
            <a:endParaRPr lang="de-DE" sz="1400" b="1" dirty="0"/>
          </a:p>
          <a:p>
            <a:r>
              <a:rPr lang="de-DE" sz="1400" dirty="0"/>
              <a:t>❌ </a:t>
            </a:r>
            <a:r>
              <a:rPr lang="de-DE" sz="1400" b="1" dirty="0" err="1"/>
              <a:t>Accessibility</a:t>
            </a:r>
            <a:r>
              <a:rPr lang="de-DE" sz="1400" b="1" dirty="0"/>
              <a:t>:</a:t>
            </a:r>
            <a:r>
              <a:rPr lang="de-DE" sz="1400" dirty="0"/>
              <a:t> Schwache Kontraste, ungeeignet für Sehbeeinträchtigte</a:t>
            </a:r>
          </a:p>
          <a:p>
            <a:r>
              <a:rPr lang="de-DE" sz="1400" dirty="0"/>
              <a:t>❌ </a:t>
            </a:r>
            <a:r>
              <a:rPr lang="de-DE" sz="1400" b="1" dirty="0"/>
              <a:t>Security:</a:t>
            </a:r>
            <a:r>
              <a:rPr lang="de-DE" sz="1400" dirty="0"/>
              <a:t> Verwendet </a:t>
            </a:r>
            <a:r>
              <a:rPr lang="de-DE" sz="1400" b="1" dirty="0"/>
              <a:t>HTTP</a:t>
            </a:r>
            <a:r>
              <a:rPr lang="de-DE" sz="1400" dirty="0"/>
              <a:t> statt HTTPS</a:t>
            </a:r>
          </a:p>
          <a:p>
            <a:r>
              <a:rPr lang="de-DE" sz="1400" dirty="0"/>
              <a:t>❌ </a:t>
            </a:r>
            <a:r>
              <a:rPr lang="de-DE" sz="1400" b="1" dirty="0"/>
              <a:t>Usability:</a:t>
            </a:r>
            <a:r>
              <a:rPr lang="de-DE" sz="1400" dirty="0"/>
              <a:t> Buttons nicht konsistent im Design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3"/>
                </a:solidFill>
              </a:rPr>
              <a:t>Grünes Wireframe</a:t>
            </a:r>
            <a:r>
              <a:rPr lang="de-DE" sz="1400" b="1" dirty="0"/>
              <a:t>:</a:t>
            </a:r>
          </a:p>
          <a:p>
            <a:pPr>
              <a:buNone/>
            </a:pPr>
            <a:endParaRPr lang="de-DE" sz="1400" b="1" dirty="0"/>
          </a:p>
          <a:p>
            <a:r>
              <a:rPr lang="de-DE" sz="1400" dirty="0"/>
              <a:t>✅ </a:t>
            </a:r>
            <a:r>
              <a:rPr lang="de-DE" sz="1400" b="1" dirty="0" err="1"/>
              <a:t>Accessibility</a:t>
            </a:r>
            <a:r>
              <a:rPr lang="de-DE" sz="1400" b="1" dirty="0"/>
              <a:t>:</a:t>
            </a:r>
            <a:r>
              <a:rPr lang="de-DE" sz="1400" dirty="0"/>
              <a:t> Grundsätzlich gut</a:t>
            </a:r>
          </a:p>
          <a:p>
            <a:r>
              <a:rPr lang="de-DE" sz="1400" dirty="0"/>
              <a:t>✅ </a:t>
            </a:r>
            <a:r>
              <a:rPr lang="de-DE" sz="1400" b="1" dirty="0"/>
              <a:t>Security:</a:t>
            </a:r>
            <a:r>
              <a:rPr lang="de-DE" sz="1400" dirty="0"/>
              <a:t> Verwendet </a:t>
            </a:r>
            <a:r>
              <a:rPr lang="de-DE" sz="1400" b="1" dirty="0"/>
              <a:t>HTTPS</a:t>
            </a:r>
            <a:endParaRPr lang="de-DE" sz="1400" dirty="0"/>
          </a:p>
          <a:p>
            <a:r>
              <a:rPr lang="de-DE" sz="1400" dirty="0"/>
              <a:t>❌ </a:t>
            </a:r>
            <a:r>
              <a:rPr lang="de-DE" sz="1400" b="1" dirty="0" err="1"/>
              <a:t>Accessibility</a:t>
            </a:r>
            <a:r>
              <a:rPr lang="de-DE" sz="1400" b="1" dirty="0"/>
              <a:t>:</a:t>
            </a:r>
            <a:r>
              <a:rPr lang="de-DE" sz="1400" dirty="0"/>
              <a:t> Weißer Text auf hellgrün (schlechter Kontrast)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A49326B-AA95-C638-22CB-41C4F9197CCA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Waage der Justitia Silhouette">
            <a:extLst>
              <a:ext uri="{FF2B5EF4-FFF2-40B4-BE49-F238E27FC236}">
                <a16:creationId xmlns:a16="http://schemas.microsoft.com/office/drawing/2014/main" id="{807F2585-0C5C-A28B-9B1E-4F20663CB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83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3C9DD-F23B-FD52-7123-6266A44F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F1A824-930F-AF4D-14D3-06967F288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F4754A-FB19-332C-A841-2C5CA2F30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F49FF2-A131-A1E8-C665-C7DFD02D8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62C07E8-F38B-F7D5-EEB3-4CF0032E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2FC7055-3529-603C-E9FC-224C6F69F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5B34E5-79A2-2A50-10B2-D5FC718F6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F3D759-CC30-089F-3A9D-3C263E0A5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50F0001-FDB0-45C9-BEBD-6700A1D4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383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Zeitplan</a:t>
            </a:r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082F3F7E-5A40-C610-B9F5-CD497115BE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47" y="1672832"/>
            <a:ext cx="5479241" cy="173501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FC967C2-6AAE-FEBD-8152-95D1C14B4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768" y="4097978"/>
            <a:ext cx="4802002" cy="208291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41013DF-F457-28AC-9F36-7854BBBD880C}"/>
              </a:ext>
            </a:extLst>
          </p:cNvPr>
          <p:cNvSpPr txBox="1"/>
          <p:nvPr/>
        </p:nvSpPr>
        <p:spPr>
          <a:xfrm>
            <a:off x="6215768" y="3530184"/>
            <a:ext cx="209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Neue Roadmap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3142B33-5304-BB55-B995-6F2D5C41A6CE}"/>
              </a:ext>
            </a:extLst>
          </p:cNvPr>
          <p:cNvSpPr txBox="1"/>
          <p:nvPr/>
        </p:nvSpPr>
        <p:spPr>
          <a:xfrm>
            <a:off x="6146647" y="1118834"/>
            <a:ext cx="209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Alte Roadmap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A3EB73A-7D37-FEA6-8C6F-E92B00A91710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" name="Grafik 8" descr="Uhr Silhouette">
            <a:extLst>
              <a:ext uri="{FF2B5EF4-FFF2-40B4-BE49-F238E27FC236}">
                <a16:creationId xmlns:a16="http://schemas.microsoft.com/office/drawing/2014/main" id="{C5191572-BBBB-BA3C-509D-CD5F82AA9C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21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0D6C0-A688-39FD-460F-AFD8EC02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0F6A0E-3323-78CA-796E-045A91387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C1A0AC-6F18-A60B-B728-A429BF483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BF8CF9-7B94-2C93-CE77-CDDFDC9CF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2B7DE01-8BDB-4198-B397-029CDD0F7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47147BC-8321-E42B-0633-99EDE1687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D1583A8-9F09-7196-9642-0CCF08733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41FB40E-7B76-999D-0AA9-60310908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09D5747-A390-D378-79D0-2FE128D64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186" y="1648326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Zeitplan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49A9F62-3532-4D28-3ECE-8978A1201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748" y="2792854"/>
            <a:ext cx="4802002" cy="208291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CAAC8FB-2DBE-BBD0-517E-5BB5E2B21321}"/>
              </a:ext>
            </a:extLst>
          </p:cNvPr>
          <p:cNvSpPr txBox="1"/>
          <p:nvPr/>
        </p:nvSpPr>
        <p:spPr>
          <a:xfrm>
            <a:off x="6215768" y="3530184"/>
            <a:ext cx="209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Neue Roadmap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B3D8E39-88D0-E680-30BC-A06842817D5A}"/>
              </a:ext>
            </a:extLst>
          </p:cNvPr>
          <p:cNvSpPr txBox="1"/>
          <p:nvPr/>
        </p:nvSpPr>
        <p:spPr>
          <a:xfrm>
            <a:off x="348236" y="2962457"/>
            <a:ext cx="3787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  <a:ea typeface="+mj-ea"/>
                <a:cs typeface="+mj-cs"/>
              </a:rPr>
              <a:t>Alte Roadmap</a:t>
            </a:r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7678C6E-F3CF-808B-DFEA-2C445A8E28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08" r="612"/>
          <a:stretch>
            <a:fillRect/>
          </a:stretch>
        </p:blipFill>
        <p:spPr>
          <a:xfrm>
            <a:off x="5334000" y="1648325"/>
            <a:ext cx="6577886" cy="3543574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3368F630-6437-6E1D-FFA6-73A01B287F09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Uhr Silhouette">
            <a:extLst>
              <a:ext uri="{FF2B5EF4-FFF2-40B4-BE49-F238E27FC236}">
                <a16:creationId xmlns:a16="http://schemas.microsoft.com/office/drawing/2014/main" id="{0ADBA69C-AB55-FACA-5BBB-1E882AE5C7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257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F0AFA-8CB7-6FCC-7CCE-57C77268C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BD2249-634F-E41B-38B3-559997183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41BC1-634F-F31A-704E-DBFC33CD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355635-7797-183B-4D72-464D5A407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EAF6E4-5BE6-C999-19AB-BCBD676B2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53FF8D-C2C7-8FDF-293F-275B1237F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76D5F86-D9FE-8AB2-0065-E175B2922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2A48679-1F10-7229-EA4E-CB0469BA0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8ED85FB-BE0E-82F1-49A4-32430B47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383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Zeitplan</a:t>
            </a:r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4EDB5089-DC89-5982-3E13-814045C84B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413" y="1643935"/>
            <a:ext cx="5479241" cy="173501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1596702-309E-8C82-19DE-88B191B42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768" y="4097978"/>
            <a:ext cx="4802002" cy="208291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B5217C7-0595-8FB5-AA59-47C2CADB23EF}"/>
              </a:ext>
            </a:extLst>
          </p:cNvPr>
          <p:cNvSpPr txBox="1"/>
          <p:nvPr/>
        </p:nvSpPr>
        <p:spPr>
          <a:xfrm>
            <a:off x="6215768" y="3530184"/>
            <a:ext cx="209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Neue Roadmap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D56B7F0-E210-68C3-FE92-3A289DEBF55E}"/>
              </a:ext>
            </a:extLst>
          </p:cNvPr>
          <p:cNvSpPr txBox="1"/>
          <p:nvPr/>
        </p:nvSpPr>
        <p:spPr>
          <a:xfrm>
            <a:off x="6095847" y="1058347"/>
            <a:ext cx="209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Alte Roadmap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7C19906-3A31-CB90-7CB4-CD2FB8DDB398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Uhr Silhouette">
            <a:extLst>
              <a:ext uri="{FF2B5EF4-FFF2-40B4-BE49-F238E27FC236}">
                <a16:creationId xmlns:a16="http://schemas.microsoft.com/office/drawing/2014/main" id="{B0CFAE37-7E83-9573-38B2-CA9C7ED9C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9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14D82-75CD-0BEB-3E30-193DC92B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A3CCC7-A708-6085-A8BE-CA4517746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380CE8-BEAA-487C-8039-B44BD3E98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E0571D6-D1BF-0158-97E4-F12DA4F2E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373B2F-2D2D-7C54-41AD-F33AC7C44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2BD295-5E8D-D343-70CF-A49B0C974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399576-9FBE-2DDE-87C5-544AF284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447C54-8FDD-64D4-9E65-1D9B894B1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2F00488-445A-F574-A8AF-C92ECE90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8070" y="1493962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</a:rPr>
              <a:t>Zeitplan</a:t>
            </a:r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7B7876F2-8524-94D8-AFD1-43B1CBDD7D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087" y="2256700"/>
            <a:ext cx="5479241" cy="173501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DE53ECB-D46B-2237-FADF-E446F031E5BE}"/>
              </a:ext>
            </a:extLst>
          </p:cNvPr>
          <p:cNvSpPr txBox="1"/>
          <p:nvPr/>
        </p:nvSpPr>
        <p:spPr>
          <a:xfrm>
            <a:off x="327465" y="3124208"/>
            <a:ext cx="4225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accent2"/>
                </a:solidFill>
                <a:latin typeface="Orbitron" pitchFamily="2" charset="0"/>
                <a:ea typeface="+mj-ea"/>
                <a:cs typeface="+mj-cs"/>
              </a:rPr>
              <a:t>Neue Roadmap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8FE0CCF-9D57-A829-08D8-383EA1EF75A7}"/>
              </a:ext>
            </a:extLst>
          </p:cNvPr>
          <p:cNvSpPr txBox="1"/>
          <p:nvPr/>
        </p:nvSpPr>
        <p:spPr>
          <a:xfrm>
            <a:off x="6215768" y="2581082"/>
            <a:ext cx="209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Alte Roadmap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062647E-401C-4DDA-DA73-76A991A3B6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93"/>
          <a:stretch>
            <a:fillRect/>
          </a:stretch>
        </p:blipFill>
        <p:spPr>
          <a:xfrm>
            <a:off x="5594728" y="1426154"/>
            <a:ext cx="6785531" cy="4296344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2481D33A-5BE9-B709-3269-B3D8083198C1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Uhr Silhouette">
            <a:extLst>
              <a:ext uri="{FF2B5EF4-FFF2-40B4-BE49-F238E27FC236}">
                <a16:creationId xmlns:a16="http://schemas.microsoft.com/office/drawing/2014/main" id="{A018B95E-311C-608F-04B6-7743A9808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3779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92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1B70E-4A13-7767-1E5B-1600E1CD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DB214D-61DC-86D7-667A-58A8947B6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3B8BA2-CB3F-161A-2ED0-634346916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4A5DD9-E3F4-5D86-84CE-32DDA11A7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F0B636E-231F-FD69-1D3B-7211C467B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6BD843F-1BC9-DF7B-13A7-0FD98209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7A0CE3C-C21D-A53F-D7BE-FD4C93EB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6E010E-B398-4D15-5E68-501931B2F3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90F4188-10D1-6D68-5C21-4A66AB51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37" y="12938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rgbClr val="FFC000"/>
                </a:solidFill>
                <a:latin typeface="Orbitron" pitchFamily="2" charset="0"/>
              </a:rPr>
              <a:t>Entscheiden</a:t>
            </a:r>
            <a:endParaRPr lang="de-DE" sz="3600" b="1" dirty="0">
              <a:solidFill>
                <a:schemeClr val="accent2"/>
              </a:solidFill>
              <a:latin typeface="Orbitron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E99788-A748-9FA7-B7A7-F3EA49BB5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939" y="577061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chemeClr val="tx2"/>
                </a:solidFill>
              </a:rPr>
              <a:t> Entscheidungstabelle</a:t>
            </a:r>
          </a:p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91384CA-E2EC-3766-21DD-237CFDBECCAB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Shuffle Silhouette">
            <a:extLst>
              <a:ext uri="{FF2B5EF4-FFF2-40B4-BE49-F238E27FC236}">
                <a16:creationId xmlns:a16="http://schemas.microsoft.com/office/drawing/2014/main" id="{6A019356-D0E5-8C77-5FED-0B962296B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881916" y="4381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06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07D8C-335D-C65E-CE5B-25415CBB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E5A8E7-2A4D-9949-02CF-7E53CE0F0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459457-0724-E9F7-3B26-3993FC067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0418A0F-06CC-30A2-90B4-6F1A02DC2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AF90907-DFEA-12DB-442F-114EB646B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074627F-58A4-ABF9-4D54-C30484F80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254BB76-8197-ED98-61DF-392EE0C9B4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CDDD215-B9C2-F07F-93DC-A308A147B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EBE07A4-4415-51D7-0418-7E401203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6" y="1344613"/>
            <a:ext cx="4265064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rgbClr val="FFC000"/>
                </a:solidFill>
                <a:latin typeface="Orbitron" pitchFamily="2" charset="0"/>
              </a:rPr>
              <a:t>Entsch. Tabelle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34C5D1-D8FB-80DC-2FE4-60565DD0B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939" y="577061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</p:txBody>
      </p:sp>
      <p:pic>
        <p:nvPicPr>
          <p:cNvPr id="4" name="Grafik 3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B4A11421-3C2A-C959-8AF6-22B120C78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323" y="1508517"/>
            <a:ext cx="6431623" cy="30524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FE63AA22-2E33-4EF5-1E6E-929EEE69700A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Shuffle Silhouette">
            <a:extLst>
              <a:ext uri="{FF2B5EF4-FFF2-40B4-BE49-F238E27FC236}">
                <a16:creationId xmlns:a16="http://schemas.microsoft.com/office/drawing/2014/main" id="{62CD6952-A6B1-CF7D-5D4F-EBDCC20EF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0881916" y="4381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46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6A284-A3A5-C3D0-C1CF-140F4761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8924C70-36E5-0A98-674D-B11325BF4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ADAAF-186E-51AC-B604-672E7FF4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E0DA98-02AF-CC8F-9693-965C0E4D6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2185AB1-9604-465B-5705-84F52DC68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5A955C-7E71-C473-0358-F33D5A20A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EBE3FE-7CCA-DB0D-AB5A-D9C167C14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7C3721-5BA8-CD37-BF97-09C328EC8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ECC5F0C-C4AF-61D1-CCA8-76AFD9DC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6" y="1344613"/>
            <a:ext cx="4265064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rgbClr val="FFC000"/>
                </a:solidFill>
                <a:latin typeface="Orbitron" pitchFamily="2" charset="0"/>
              </a:rPr>
              <a:t>Entsch. Tabelle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5E1399-7672-2FB6-2BFA-21F10376A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939" y="577061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</p:txBody>
      </p:sp>
      <p:pic>
        <p:nvPicPr>
          <p:cNvPr id="4" name="Grafik 3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485A4042-AE67-18A2-B500-D58AED6F1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327" y="716075"/>
            <a:ext cx="8900797" cy="42243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6D83ED92-D25B-BEBE-931F-425BADFE7F3A}"/>
                  </a:ext>
                </a:extLst>
              </p14:cNvPr>
              <p14:cNvContentPartPr/>
              <p14:nvPr/>
            </p14:nvContentPartPr>
            <p14:xfrm>
              <a:off x="2537510" y="2738280"/>
              <a:ext cx="1274040" cy="3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6D83ED92-D25B-BEBE-931F-425BADFE7F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3510" y="2630280"/>
                <a:ext cx="1381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A442D768-2011-7F3F-3E74-DFB31B5D780B}"/>
                  </a:ext>
                </a:extLst>
              </p14:cNvPr>
              <p14:cNvContentPartPr/>
              <p14:nvPr/>
            </p14:nvContentPartPr>
            <p14:xfrm>
              <a:off x="5192026" y="2767980"/>
              <a:ext cx="405360" cy="36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A442D768-2011-7F3F-3E74-DFB31B5D78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38026" y="2659980"/>
                <a:ext cx="513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855513EA-02C5-AB13-CBC8-54261F732D65}"/>
                  </a:ext>
                </a:extLst>
              </p14:cNvPr>
              <p14:cNvContentPartPr/>
              <p14:nvPr/>
            </p14:nvContentPartPr>
            <p14:xfrm>
              <a:off x="2676082" y="3021988"/>
              <a:ext cx="643320" cy="36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855513EA-02C5-AB13-CBC8-54261F732D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22082" y="2913988"/>
                <a:ext cx="750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AAB59CC7-2060-890E-4A4D-762A370E0C75}"/>
                  </a:ext>
                </a:extLst>
              </p14:cNvPr>
              <p14:cNvContentPartPr/>
              <p14:nvPr/>
            </p14:nvContentPartPr>
            <p14:xfrm>
              <a:off x="5186602" y="3068220"/>
              <a:ext cx="394560" cy="360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AAB59CC7-2060-890E-4A4D-762A370E0C7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32602" y="2960220"/>
                <a:ext cx="5022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BD3B44A3-7F5B-E69B-C006-D7719A53A54F}"/>
                  </a:ext>
                </a:extLst>
              </p14:cNvPr>
              <p14:cNvContentPartPr/>
              <p14:nvPr/>
            </p14:nvContentPartPr>
            <p14:xfrm>
              <a:off x="2568304" y="3333730"/>
              <a:ext cx="958320" cy="36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BD3B44A3-7F5B-E69B-C006-D7719A53A54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14284" y="3225730"/>
                <a:ext cx="106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26C6E860-D795-E52A-C3BB-C3057B16195A}"/>
                  </a:ext>
                </a:extLst>
              </p14:cNvPr>
              <p14:cNvContentPartPr/>
              <p14:nvPr/>
            </p14:nvContentPartPr>
            <p14:xfrm>
              <a:off x="5181170" y="3379223"/>
              <a:ext cx="456840" cy="36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26C6E860-D795-E52A-C3BB-C3057B16195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27170" y="3271223"/>
                <a:ext cx="564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09683790-6619-C8ED-E5C8-8840813D77D1}"/>
                  </a:ext>
                </a:extLst>
              </p14:cNvPr>
              <p14:cNvContentPartPr/>
              <p14:nvPr/>
            </p14:nvContentPartPr>
            <p14:xfrm>
              <a:off x="2573690" y="3622800"/>
              <a:ext cx="600840" cy="360"/>
            </p14:xfrm>
          </p:contentPart>
        </mc:Choice>
        <mc:Fallback xmlns=""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09683790-6619-C8ED-E5C8-8840813D77D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20050" y="3514800"/>
                <a:ext cx="708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7FCDEAD4-51FE-06D4-3B10-A56254ED6BA4}"/>
                  </a:ext>
                </a:extLst>
              </p14:cNvPr>
              <p14:cNvContentPartPr/>
              <p14:nvPr/>
            </p14:nvContentPartPr>
            <p14:xfrm>
              <a:off x="5271417" y="3629190"/>
              <a:ext cx="326160" cy="36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7FCDEAD4-51FE-06D4-3B10-A56254ED6BA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17417" y="3521190"/>
                <a:ext cx="433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330E1CB0-9747-CCA8-F9E9-7D13A087226E}"/>
                  </a:ext>
                </a:extLst>
              </p14:cNvPr>
              <p14:cNvContentPartPr/>
              <p14:nvPr/>
            </p14:nvContentPartPr>
            <p14:xfrm>
              <a:off x="2586043" y="3929894"/>
              <a:ext cx="1753560" cy="36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330E1CB0-9747-CCA8-F9E9-7D13A087226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32054" y="3821894"/>
                <a:ext cx="1861178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60B82BEF-CE57-7BCB-422F-F69B63AA63B4}"/>
                  </a:ext>
                </a:extLst>
              </p14:cNvPr>
              <p14:cNvContentPartPr/>
              <p14:nvPr/>
            </p14:nvContentPartPr>
            <p14:xfrm>
              <a:off x="5225810" y="3945270"/>
              <a:ext cx="412200" cy="36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60B82BEF-CE57-7BCB-422F-F69B63AA63B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171810" y="3837270"/>
                <a:ext cx="519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128AE919-D9FE-9FAA-4C50-130B230CC9FF}"/>
                  </a:ext>
                </a:extLst>
              </p14:cNvPr>
              <p14:cNvContentPartPr/>
              <p14:nvPr/>
            </p14:nvContentPartPr>
            <p14:xfrm>
              <a:off x="2586297" y="4305927"/>
              <a:ext cx="941400" cy="36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128AE919-D9FE-9FAA-4C50-130B230CC9F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532297" y="4197927"/>
                <a:ext cx="1049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6DB3F449-94CF-40CC-39DE-1C1B3A910321}"/>
                  </a:ext>
                </a:extLst>
              </p14:cNvPr>
              <p14:cNvContentPartPr/>
              <p14:nvPr/>
            </p14:nvContentPartPr>
            <p14:xfrm>
              <a:off x="5350310" y="4261350"/>
              <a:ext cx="262440" cy="36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6DB3F449-94CF-40CC-39DE-1C1B3A91032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296310" y="4153350"/>
                <a:ext cx="370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C60E9884-FDB7-B934-DCDA-59DCC3C40527}"/>
                  </a:ext>
                </a:extLst>
              </p14:cNvPr>
              <p14:cNvContentPartPr/>
              <p14:nvPr/>
            </p14:nvContentPartPr>
            <p14:xfrm>
              <a:off x="8465810" y="4492920"/>
              <a:ext cx="649800" cy="47124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C60E9884-FDB7-B934-DCDA-59DCC3C4052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456810" y="4484280"/>
                <a:ext cx="66744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0872CAEF-7916-6AE8-4A34-67A616D909FB}"/>
                  </a:ext>
                </a:extLst>
              </p14:cNvPr>
              <p14:cNvContentPartPr/>
              <p14:nvPr/>
            </p14:nvContentPartPr>
            <p14:xfrm>
              <a:off x="8399237" y="5121321"/>
              <a:ext cx="890640" cy="36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0872CAEF-7916-6AE8-4A34-67A616D909F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381597" y="5103681"/>
                <a:ext cx="92628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31" name="Grafik 30" descr="Ein Bild, das Zeichnung, Clipart, Grafiken, Darstellung enthält.&#10;&#10;KI-generierte Inhalte können fehlerhaft sein.">
            <a:extLst>
              <a:ext uri="{FF2B5EF4-FFF2-40B4-BE49-F238E27FC236}">
                <a16:creationId xmlns:a16="http://schemas.microsoft.com/office/drawing/2014/main" id="{D3798240-4749-3AF6-1B31-5E63232BA3F8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734" y="1477379"/>
            <a:ext cx="5665488" cy="4498404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7D8EFDDF-6CFA-8551-9B28-5DDE190F63B5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Shuffle Silhouette">
            <a:extLst>
              <a:ext uri="{FF2B5EF4-FFF2-40B4-BE49-F238E27FC236}">
                <a16:creationId xmlns:a16="http://schemas.microsoft.com/office/drawing/2014/main" id="{B669844E-4C17-A392-F299-836E319DA9D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16200000">
            <a:off x="10881916" y="4381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9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610CD-03D2-70D9-20CA-16663218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949291-3FB6-5410-2056-B88B5F34C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EC057A-2698-D1C8-DAC7-D38EC4CD6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626D85-8798-7806-2740-6394213FF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985EE3B-5FE0-80A2-F864-FD5F4B760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CFEBEC8-A41C-7E3C-EE94-E911C9570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2151881-0ACE-B3ED-964E-05D5C6F4A1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9234764-3481-AF53-4055-1EBEFE6D66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F081559-D27E-716F-741A-1A6F95DC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50" y="1243013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 err="1">
                <a:solidFill>
                  <a:srgbClr val="00B050"/>
                </a:solidFill>
                <a:latin typeface="Orbitron" pitchFamily="2" charset="0"/>
              </a:rPr>
              <a:t>Livedemo</a:t>
            </a:r>
            <a:endParaRPr lang="de-DE" sz="3600" b="1" dirty="0">
              <a:solidFill>
                <a:srgbClr val="00B050"/>
              </a:solidFill>
              <a:latin typeface="Orbitron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99645F-0661-D9A6-58D5-316C2FB95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3665" y="491539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e-DE" sz="2400" dirty="0">
                <a:solidFill>
                  <a:schemeClr val="tx2"/>
                </a:solidFill>
                <a:hlinkClick r:id="rId2"/>
              </a:rPr>
              <a:t>Hier geht’s zur Demo!</a:t>
            </a:r>
            <a:endParaRPr lang="de-DE" sz="2400" dirty="0">
              <a:solidFill>
                <a:schemeClr val="tx2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66DA211-0B2A-4462-AF4A-E389ED6D0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38" y="7006400"/>
            <a:ext cx="1987652" cy="103510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DF05068-9B74-AAD8-27C5-EE1E64C83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064" y="7173813"/>
            <a:ext cx="6477904" cy="63826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7FC666CC-E9F8-265D-AABB-DECF4E0B2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431" y="-1562690"/>
            <a:ext cx="1606633" cy="1092256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448F50EB-4690-82C0-C706-7D6A63A482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8912"/>
          <a:stretch>
            <a:fillRect/>
          </a:stretch>
        </p:blipFill>
        <p:spPr>
          <a:xfrm>
            <a:off x="5345025" y="-1562690"/>
            <a:ext cx="6279864" cy="95555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593C9F6F-9FE3-27F8-685E-E0E88C91FB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915" y="8274179"/>
            <a:ext cx="9013238" cy="83165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5BFF06EF-A521-2282-8618-D6658249CF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554145" y="8189902"/>
            <a:ext cx="4987328" cy="2139211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A47B9D0C-67CA-89B5-27D0-5F1BAB7C8E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1668" y="9228255"/>
            <a:ext cx="1968357" cy="1455592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C42A2B5B-463A-FD71-DCE0-A112286E47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8960" y="7416086"/>
            <a:ext cx="5434386" cy="2913027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345B206-A1FA-C17A-BEDF-77DEFDF94D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16370" y="3887456"/>
            <a:ext cx="4158077" cy="1727531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4088D66-C2BE-A844-88E9-5099A0BD7E22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Internet Silhouette">
            <a:extLst>
              <a:ext uri="{FF2B5EF4-FFF2-40B4-BE49-F238E27FC236}">
                <a16:creationId xmlns:a16="http://schemas.microsoft.com/office/drawing/2014/main" id="{6A70128C-D336-EE4B-C065-223A26F8F1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90849" y="57706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53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5EEBC-0F20-B4CA-A8DC-A9BFAAE7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8604E7-2EB0-4AD1-3197-887A4DA8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312B83-FBFF-5244-788F-B3C5A9764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6431D-8C8B-699A-F720-981AD015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663947B-8CBE-17FD-9539-F5A929861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C373AC5-01E7-07F3-DDF2-C023F59066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4348EAB-24F9-1136-FC25-F1F8CBCD5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E39686D-085C-C098-5285-5B961616F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8F3E6E8-4F7C-F116-215E-0798A35E3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30" y="1202895"/>
            <a:ext cx="3855720" cy="4371974"/>
          </a:xfrm>
        </p:spPr>
        <p:txBody>
          <a:bodyPr>
            <a:normAutofit/>
          </a:bodyPr>
          <a:lstStyle/>
          <a:p>
            <a:r>
              <a:rPr lang="de-DE" sz="3600" b="1" dirty="0">
                <a:solidFill>
                  <a:schemeClr val="accent3"/>
                </a:solidFill>
                <a:latin typeface="Orbitron" pitchFamily="2" charset="0"/>
              </a:rPr>
              <a:t>Kontrollieren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8C007C-AB1F-8883-FF9E-C0BCC0779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939" y="577061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de-DE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tx2"/>
              </a:solidFill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6B9A7CD5-8584-B10C-FA4E-934F1A6E3688}"/>
              </a:ext>
            </a:extLst>
          </p:cNvPr>
          <p:cNvSpPr txBox="1">
            <a:spLocks/>
          </p:cNvSpPr>
          <p:nvPr/>
        </p:nvSpPr>
        <p:spPr>
          <a:xfrm>
            <a:off x="6321650" y="1020498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sz="2400" b="1" dirty="0"/>
              <a:t>Als Benutzer möchte ich …</a:t>
            </a:r>
            <a:endParaRPr lang="de-DE" sz="2400" dirty="0"/>
          </a:p>
          <a:p>
            <a:endParaRPr lang="de-DE" sz="1200" dirty="0"/>
          </a:p>
          <a:p>
            <a:r>
              <a:rPr lang="de-CH" sz="1400" dirty="0"/>
              <a:t>Das Game downloaden können</a:t>
            </a:r>
            <a:endParaRPr lang="de-DE" sz="1400" dirty="0"/>
          </a:p>
          <a:p>
            <a:r>
              <a:rPr lang="de-CH" sz="1400" dirty="0"/>
              <a:t>Einen </a:t>
            </a:r>
            <a:r>
              <a:rPr lang="de-CH" sz="1400" dirty="0" err="1"/>
              <a:t>Footer</a:t>
            </a:r>
            <a:r>
              <a:rPr lang="de-CH" sz="1400" dirty="0"/>
              <a:t> mit Copyright © und Lizenz Infos</a:t>
            </a:r>
            <a:endParaRPr lang="de-DE" sz="1400" dirty="0"/>
          </a:p>
          <a:p>
            <a:r>
              <a:rPr lang="de-CH" sz="1400" dirty="0"/>
              <a:t>Einen </a:t>
            </a:r>
            <a:r>
              <a:rPr lang="de-CH" sz="1400" dirty="0" err="1"/>
              <a:t>Accessibility</a:t>
            </a:r>
            <a:r>
              <a:rPr lang="de-CH" sz="1400" dirty="0"/>
              <a:t> Mode für Sehbeeinträchtigte</a:t>
            </a:r>
            <a:endParaRPr lang="de-DE" sz="1400" dirty="0"/>
          </a:p>
          <a:p>
            <a:r>
              <a:rPr lang="de-CH" sz="1400" dirty="0"/>
              <a:t>Eine übersichtliche Homepage</a:t>
            </a:r>
            <a:endParaRPr lang="de-DE" sz="1400" dirty="0"/>
          </a:p>
          <a:p>
            <a:r>
              <a:rPr lang="de-CH" sz="1400" dirty="0"/>
              <a:t>Einen Header der beim Scrollen </a:t>
            </a:r>
            <a:r>
              <a:rPr lang="de-CH" sz="1400" dirty="0" err="1"/>
              <a:t>sticky</a:t>
            </a:r>
            <a:r>
              <a:rPr lang="de-CH" sz="1400" dirty="0"/>
              <a:t> wird</a:t>
            </a:r>
            <a:endParaRPr lang="de-DE" sz="1400" dirty="0"/>
          </a:p>
          <a:p>
            <a:r>
              <a:rPr lang="de-CH" sz="1400" dirty="0"/>
              <a:t>Einen </a:t>
            </a:r>
            <a:r>
              <a:rPr lang="de-CH" sz="1400" dirty="0" err="1"/>
              <a:t>Gameplayguide</a:t>
            </a:r>
            <a:r>
              <a:rPr lang="de-CH" sz="1400" dirty="0"/>
              <a:t> erhalten</a:t>
            </a:r>
            <a:endParaRPr lang="de-DE" sz="1400" dirty="0"/>
          </a:p>
          <a:p>
            <a:r>
              <a:rPr lang="de-CH" sz="1400" dirty="0"/>
              <a:t>Einen Supportbutton erhalten</a:t>
            </a:r>
            <a:endParaRPr lang="de-DE" sz="1400" dirty="0"/>
          </a:p>
          <a:p>
            <a:r>
              <a:rPr lang="de-CH" sz="1400" dirty="0"/>
              <a:t>Eine Info über die Autoren erhalten</a:t>
            </a:r>
            <a:endParaRPr lang="de-DE" sz="1400" dirty="0"/>
          </a:p>
          <a:p>
            <a:r>
              <a:rPr lang="de-CH" sz="1400" dirty="0"/>
              <a:t>Einen guten Farbkontrast</a:t>
            </a:r>
            <a:endParaRPr lang="de-DE" sz="1400" dirty="0"/>
          </a:p>
          <a:p>
            <a:r>
              <a:rPr lang="de-CH" sz="1400" dirty="0"/>
              <a:t>Einen Medienauftritt vom Hersteller</a:t>
            </a:r>
            <a:endParaRPr lang="de-DE" sz="1400" dirty="0"/>
          </a:p>
          <a:p>
            <a:endParaRPr lang="de-DE" dirty="0"/>
          </a:p>
        </p:txBody>
      </p:sp>
      <p:pic>
        <p:nvPicPr>
          <p:cNvPr id="5" name="Picture 2" descr="User PNGs for Free Download">
            <a:extLst>
              <a:ext uri="{FF2B5EF4-FFF2-40B4-BE49-F238E27FC236}">
                <a16:creationId xmlns:a16="http://schemas.microsoft.com/office/drawing/2014/main" id="{94734242-435E-ED54-B36E-BF8C4FC63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208" y="1357258"/>
            <a:ext cx="824056" cy="49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74C25A1-2767-393B-7B30-D2FDB5569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874" y="1555199"/>
            <a:ext cx="1987652" cy="103510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F42D2C3-2509-D0A5-2763-ABFA9E18A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" y="2336151"/>
            <a:ext cx="5557783" cy="547605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E20D4E0-4473-77D7-A222-2D648C38E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695" y="2419921"/>
            <a:ext cx="1469504" cy="99903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4DD5D2B-4434-AA48-998C-3B6BCAC637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8912"/>
          <a:stretch>
            <a:fillRect/>
          </a:stretch>
        </p:blipFill>
        <p:spPr>
          <a:xfrm>
            <a:off x="537255" y="2133284"/>
            <a:ext cx="5346116" cy="81347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F50E5852-3D94-9C22-5E67-87856D5032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324" y="2193446"/>
            <a:ext cx="6055681" cy="558763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A438EFC-47DF-C645-5F4E-E4F80D9B01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10" y="3714700"/>
            <a:ext cx="4987328" cy="2139211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2D5A6ECF-0682-B792-7D6E-47961B8A03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6647" y="3835348"/>
            <a:ext cx="1968357" cy="1455592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451ECBF6-32AB-1C32-41CB-73F22DB658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449" y="3801781"/>
            <a:ext cx="4987328" cy="2673388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40A01759-FF60-5D6C-83EC-7B8CF7EEE8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303" y="4328583"/>
            <a:ext cx="4158077" cy="1727531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0915D266-17B0-2A7A-2E3A-D146413B0341}"/>
              </a:ext>
            </a:extLst>
          </p:cNvPr>
          <p:cNvSpPr/>
          <p:nvPr/>
        </p:nvSpPr>
        <p:spPr>
          <a:xfrm>
            <a:off x="10810984" y="0"/>
            <a:ext cx="1019991" cy="14743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 descr="Klemmbrett abgehakt Silhouette">
            <a:extLst>
              <a:ext uri="{FF2B5EF4-FFF2-40B4-BE49-F238E27FC236}">
                <a16:creationId xmlns:a16="http://schemas.microsoft.com/office/drawing/2014/main" id="{10AF2641-DEFE-1EBC-4FE0-69A634DA2E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81916" y="50883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9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4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8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2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4" dur="indefinit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76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0" dur="2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2" dur="indefinite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4" dur="2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6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14" dur="2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6" dur="indefinite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24" dur="2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6" dur="indefinite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277</Words>
  <Application>Microsoft Office PowerPoint</Application>
  <PresentationFormat>Breitbild</PresentationFormat>
  <Paragraphs>102</Paragraphs>
  <Slides>21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Orbitron</vt:lpstr>
      <vt:lpstr>Wingdings</vt:lpstr>
      <vt:lpstr>Office</vt:lpstr>
      <vt:lpstr>Projektarbeit</vt:lpstr>
      <vt:lpstr>Informieren</vt:lpstr>
      <vt:lpstr>Unsere Ziele</vt:lpstr>
      <vt:lpstr>Unsere Rollen</vt:lpstr>
      <vt:lpstr>Planen</vt:lpstr>
      <vt:lpstr>Brainstorming</vt:lpstr>
      <vt:lpstr>Brainstorming</vt:lpstr>
      <vt:lpstr>Wireframes</vt:lpstr>
      <vt:lpstr>Wireframes</vt:lpstr>
      <vt:lpstr>Wireframes</vt:lpstr>
      <vt:lpstr>Wireframes</vt:lpstr>
      <vt:lpstr>Vergleich</vt:lpstr>
      <vt:lpstr>Zeitplan</vt:lpstr>
      <vt:lpstr>Zeitplan</vt:lpstr>
      <vt:lpstr>Zeitplan</vt:lpstr>
      <vt:lpstr>Zeitplan</vt:lpstr>
      <vt:lpstr>Entscheiden</vt:lpstr>
      <vt:lpstr>Entsch. Tabelle</vt:lpstr>
      <vt:lpstr>Entsch. Tabelle</vt:lpstr>
      <vt:lpstr>Livedemo</vt:lpstr>
      <vt:lpstr>Kontrollieren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Emele Noel Andreas BZRA IMST24a</dc:creator>
  <cp:lastModifiedBy>Emele Noel Andreas BZRA IMST24a</cp:lastModifiedBy>
  <cp:revision>50</cp:revision>
  <dcterms:created xsi:type="dcterms:W3CDTF">2025-06-22T11:30:58Z</dcterms:created>
  <dcterms:modified xsi:type="dcterms:W3CDTF">2025-06-23T12:03:00Z</dcterms:modified>
</cp:coreProperties>
</file>