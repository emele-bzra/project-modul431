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3" r:id="rId6"/>
    <p:sldId id="261" r:id="rId7"/>
    <p:sldId id="262" r:id="rId8"/>
    <p:sldId id="267" r:id="rId9"/>
    <p:sldId id="264" r:id="rId10"/>
    <p:sldId id="260" r:id="rId11"/>
    <p:sldId id="266" r:id="rId12"/>
    <p:sldId id="265" r:id="rId13"/>
    <p:sldId id="270" r:id="rId14"/>
    <p:sldId id="269" r:id="rId15"/>
    <p:sldId id="271" r:id="rId16"/>
    <p:sldId id="268" r:id="rId1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15" autoAdjust="0"/>
    <p:restoredTop sz="94660"/>
  </p:normalViewPr>
  <p:slideViewPr>
    <p:cSldViewPr snapToGrid="0">
      <p:cViewPr>
        <p:scale>
          <a:sx n="85" d="100"/>
          <a:sy n="85" d="100"/>
        </p:scale>
        <p:origin x="108" y="6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67204-DA34-3463-C94C-FB847727BA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0348619-5C61-CC8B-B97E-D41EE1DA04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3C663B-6FD9-B600-5E4D-B52E1CAD1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6CE7A38-858F-0313-67A3-3A3966116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4323893-6EC0-72E6-E2D5-25AC41232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6733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9B85B2-4125-8C10-066E-DC8662BA6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1DAA4DD-1861-E59E-F4D2-3093F7032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F1347DF-66AC-B100-26EA-7E38112D6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D9683B7-A872-0914-314F-CC55EEC310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7138EF5-51BC-75D5-2310-D3A2BB672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23383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9A73E4-9E9A-F5DA-DFBD-480AAE2CA1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3781EAD-773C-208C-3B90-2BDF46485C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56188C3-0316-056B-F982-F6CD6B3C6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78B9764-288E-C044-2EBF-3A773BF23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5A074DB-4427-5917-0437-025A88E5B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83986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DD63DB-C8E1-A56D-05C0-2D69332EC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BA29E63-66B2-C8F8-2CB9-DEE7C5F4E8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1CA3932-522E-7474-929C-86DE084E7F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1220BD8-F7AA-7D06-C6BE-03E0DAFBA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37BBD4A-A7FE-F340-DF69-1BB706A4B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F942F59-7AF5-6194-FDAD-861C8D115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4443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4B0A18-F20F-6C95-5358-1EF9FD08F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DA0D078-42C7-7E49-AB3B-A6161DE50F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DF4C95E-9922-E454-6D31-C1E3752B6C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AC51704-C741-F850-631B-B108887A99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E6DFF66-ABED-BE95-ADE1-DE9BEB1666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5B41842-A6E3-7276-DA01-D08D1A4CC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1ED866E-B57B-D46B-957C-264CFBF92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C846979-6BEF-3852-0790-34E210A38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6766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D7DDD2-44A0-16E9-3E6E-FD5881BE5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249EA0C-B785-1E8D-7436-812631773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0E034C7-954C-D889-AB4F-676F60DEA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F15E1E7-7221-F39B-B2FA-7BC98CBC8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27413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912CE90-E866-6E4A-B3FF-8A2E29FCA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7C9AB0C-D762-404A-4817-25F62B409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359E2DE-07D0-83C1-0461-B1AB6892F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978197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2AA350-ED0B-4E16-44CB-33FB277F1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E46B23-02E9-A9FA-2C7A-E9182D5D50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0CFD000-DBF2-EB0E-3CDE-FD4237C554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AEEE68F-D673-2FB9-DA15-DA78ED49C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08AC363-C1F1-0861-5BB0-5984C9AC75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6A21AC3-1A0E-E645-FF99-3C3C07C3D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1799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8DB521-2130-285B-8721-BFCEA94A2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90288BC-11D3-E02C-41FD-A5C1053A04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673C227-71CF-BA5A-5E50-5C9E3C7E00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FA7928E-9BD6-08DA-0670-AF3C898AC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F6C7ECC-2971-3BDF-F80D-7B8D4F50D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B9AE105-0132-86A8-D1F3-0DB814B6D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52850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7F016D-808D-A50F-C462-CB2984B14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30BC9B9-A731-8D7E-9933-8D82F799C0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3C76CF5-BF0B-B5DA-259E-CBBEAFDA5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ED93C0C-8E5C-0996-43DE-A4C5C0CD2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E6B5FB-ED5D-BA19-61A1-E923318D0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73218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08C9A89-8ECD-AEDF-9FB8-543CD523C6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E7C524D-8D74-64A3-FC6E-B615BC7203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4952390-1D26-8B8E-2056-8ECCF0E00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7FD1BF-3F4C-92BC-1F72-D3D80F9D6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73BC6E7-E846-BB7B-5D61-47C9F2680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76384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DC71FD4-FBF8-5B29-9C7D-FC5144534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B418F7F-9E9D-5A57-6A04-78442A850E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941E850-2D91-8625-A075-42EE82BA5D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021835-5CE9-4965-B2F8-19C3B24AD8C6}" type="datetimeFigureOut">
              <a:rPr lang="de-DE" smtClean="0"/>
              <a:t>22.06.2025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5AC70A2-D295-2D32-3535-E2AEDF594B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7E7DFAC-327D-03FA-8D1B-09A8051C53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6357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mailto:Noel.Emele@bwz-rappi.ch" TargetMode="External"/><Relationship Id="rId2" Type="http://schemas.openxmlformats.org/officeDocument/2006/relationships/hyperlink" Target="mailto:Silvan.Gehrig@bwz-rappi.ch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hyperlink" Target="mailto:Florian.Elser@bwz-rappi.ch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86" name="Rectangle 3085">
            <a:extLst>
              <a:ext uri="{FF2B5EF4-FFF2-40B4-BE49-F238E27FC236}">
                <a16:creationId xmlns:a16="http://schemas.microsoft.com/office/drawing/2014/main" id="{1EADCAF8-8823-4E89-8612-21029831A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88" name="Rectangle 3087">
            <a:extLst>
              <a:ext uri="{FF2B5EF4-FFF2-40B4-BE49-F238E27FC236}">
                <a16:creationId xmlns:a16="http://schemas.microsoft.com/office/drawing/2014/main" id="{28CA07B2-0819-4B62-9425-7A52BBDD70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dirty="0"/>
          </a:p>
        </p:txBody>
      </p:sp>
      <p:grpSp>
        <p:nvGrpSpPr>
          <p:cNvPr id="3090" name="Group 3089">
            <a:extLst>
              <a:ext uri="{FF2B5EF4-FFF2-40B4-BE49-F238E27FC236}">
                <a16:creationId xmlns:a16="http://schemas.microsoft.com/office/drawing/2014/main" id="{DA02BEE4-A5D4-40AF-882D-49D34B086F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3091" name="Freeform: Shape 3090">
              <a:extLst>
                <a:ext uri="{FF2B5EF4-FFF2-40B4-BE49-F238E27FC236}">
                  <a16:creationId xmlns:a16="http://schemas.microsoft.com/office/drawing/2014/main" id="{0F5843EB-154F-4459-8954-BB1DF64BBD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2" name="Freeform: Shape 3091">
              <a:extLst>
                <a:ext uri="{FF2B5EF4-FFF2-40B4-BE49-F238E27FC236}">
                  <a16:creationId xmlns:a16="http://schemas.microsoft.com/office/drawing/2014/main" id="{75905135-55D9-431B-8D5A-4C5C92B1FE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3" name="Freeform: Shape 3092">
              <a:extLst>
                <a:ext uri="{FF2B5EF4-FFF2-40B4-BE49-F238E27FC236}">
                  <a16:creationId xmlns:a16="http://schemas.microsoft.com/office/drawing/2014/main" id="{9B732812-A0BB-4324-B390-DFEF26C109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4" name="Freeform: Shape 3093">
              <a:extLst>
                <a:ext uri="{FF2B5EF4-FFF2-40B4-BE49-F238E27FC236}">
                  <a16:creationId xmlns:a16="http://schemas.microsoft.com/office/drawing/2014/main" id="{01FEC055-6F76-4E20-BC93-76C2F58EA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5" name="Freeform: Shape 3094">
              <a:extLst>
                <a:ext uri="{FF2B5EF4-FFF2-40B4-BE49-F238E27FC236}">
                  <a16:creationId xmlns:a16="http://schemas.microsoft.com/office/drawing/2014/main" id="{D74CD21D-122E-4F3D-82AF-F4A37C278A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6" name="Freeform: Shape 3095">
              <a:extLst>
                <a:ext uri="{FF2B5EF4-FFF2-40B4-BE49-F238E27FC236}">
                  <a16:creationId xmlns:a16="http://schemas.microsoft.com/office/drawing/2014/main" id="{5A7FF51F-3820-41BE-8690-7E758ECFA7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7" name="Freeform: Shape 3096">
              <a:extLst>
                <a:ext uri="{FF2B5EF4-FFF2-40B4-BE49-F238E27FC236}">
                  <a16:creationId xmlns:a16="http://schemas.microsoft.com/office/drawing/2014/main" id="{85EAD889-EA4D-485F-BA9C-F6473A4329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105A0E48-E9B6-9DDF-6D45-7F6D9FFF43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5368" y="1497563"/>
            <a:ext cx="6105194" cy="2031055"/>
          </a:xfrm>
        </p:spPr>
        <p:txBody>
          <a:bodyPr>
            <a:normAutofit/>
          </a:bodyPr>
          <a:lstStyle/>
          <a:p>
            <a:r>
              <a:rPr lang="de-DE" sz="5200" noProof="0" dirty="0">
                <a:solidFill>
                  <a:schemeClr val="tx2"/>
                </a:solidFill>
              </a:rPr>
              <a:t>Projektarbeit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D522145-8241-AAE1-C02B-445120F1F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5368" y="3897659"/>
            <a:ext cx="6105194" cy="682079"/>
          </a:xfrm>
        </p:spPr>
        <p:txBody>
          <a:bodyPr>
            <a:normAutofit/>
          </a:bodyPr>
          <a:lstStyle/>
          <a:p>
            <a:r>
              <a:rPr lang="de-DE" dirty="0">
                <a:solidFill>
                  <a:schemeClr val="tx2"/>
                </a:solidFill>
              </a:rPr>
              <a:t>Mit </a:t>
            </a:r>
            <a:r>
              <a:rPr lang="de-DE" b="1" dirty="0">
                <a:solidFill>
                  <a:srgbClr val="C00000"/>
                </a:solidFill>
              </a:rPr>
              <a:t>I</a:t>
            </a:r>
            <a:r>
              <a:rPr lang="de-DE" b="1" dirty="0">
                <a:solidFill>
                  <a:schemeClr val="accent2"/>
                </a:solidFill>
              </a:rPr>
              <a:t>P</a:t>
            </a:r>
            <a:r>
              <a:rPr lang="de-DE" b="1" dirty="0">
                <a:solidFill>
                  <a:srgbClr val="FFC000"/>
                </a:solidFill>
              </a:rPr>
              <a:t>E</a:t>
            </a:r>
            <a:r>
              <a:rPr lang="de-DE" b="1" dirty="0">
                <a:solidFill>
                  <a:srgbClr val="00B050"/>
                </a:solidFill>
              </a:rPr>
              <a:t>R</a:t>
            </a:r>
            <a:r>
              <a:rPr lang="de-DE" b="1" dirty="0">
                <a:solidFill>
                  <a:schemeClr val="accent3"/>
                </a:solidFill>
              </a:rPr>
              <a:t>K</a:t>
            </a:r>
            <a:r>
              <a:rPr lang="de-DE" b="1" dirty="0">
                <a:solidFill>
                  <a:srgbClr val="0070C0"/>
                </a:solidFill>
              </a:rPr>
              <a:t>A</a:t>
            </a:r>
            <a:endParaRPr lang="de-DE" b="1" noProof="0" dirty="0">
              <a:solidFill>
                <a:srgbClr val="0070C0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B8B8A39-962A-A775-FD6E-93725B0F7F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304774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F1E5B537-D29A-BF94-198A-18F2F5D5A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Informieren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48BEA99-3A8E-E16B-E56D-42E8161676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Anforderungen gelesen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IPERKA aufgefrischt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Ziele definiert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Rollen verteilt</a:t>
            </a:r>
          </a:p>
        </p:txBody>
      </p:sp>
    </p:spTree>
    <p:extLst>
      <p:ext uri="{BB962C8B-B14F-4D97-AF65-F5344CB8AC3E}">
        <p14:creationId xmlns:p14="http://schemas.microsoft.com/office/powerpoint/2010/main" val="11501836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C05A03-95C0-E6FC-B201-94B9FDEB3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2B44EF0-793C-F61C-321B-25ABCDCE7C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85A13E-A917-8FEE-6B0F-ADDE46B4B7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C0511A5-9452-A925-2CF2-BAECECAB78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501B13A-3607-41B6-8663-24A10FEF23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BE44C1C-AFED-5E8F-51BB-4F154B4F08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D0EC66-98FC-8097-3172-49F06CFA93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6D9DC1F-A193-C199-98A6-A7C479EE6D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7684560-A453-F73D-35BD-8F469B641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529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Unsere Ziele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F31D7DE-798C-6876-C284-26D6DAE0D6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30615" y="993604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de-CH" sz="2400" b="1" dirty="0"/>
              <a:t>Als Benutzer möchte ich …</a:t>
            </a:r>
            <a:endParaRPr lang="de-DE" sz="2400" dirty="0"/>
          </a:p>
          <a:p>
            <a:endParaRPr lang="de-DE" sz="1200" dirty="0"/>
          </a:p>
          <a:p>
            <a:pPr lvl="0"/>
            <a:r>
              <a:rPr lang="de-CH" sz="1400" dirty="0"/>
              <a:t>Das Game downloaden können</a:t>
            </a:r>
            <a:endParaRPr lang="de-DE" sz="1400" dirty="0"/>
          </a:p>
          <a:p>
            <a:pPr lvl="0"/>
            <a:r>
              <a:rPr lang="de-CH" sz="1400" dirty="0"/>
              <a:t>Einen </a:t>
            </a:r>
            <a:r>
              <a:rPr lang="de-CH" sz="1400" dirty="0" err="1"/>
              <a:t>Footer</a:t>
            </a:r>
            <a:r>
              <a:rPr lang="de-CH" sz="1400" dirty="0"/>
              <a:t> mit Copyright © und Lizenz Infos</a:t>
            </a:r>
            <a:endParaRPr lang="de-DE" sz="1400" dirty="0"/>
          </a:p>
          <a:p>
            <a:pPr lvl="0"/>
            <a:r>
              <a:rPr lang="de-CH" sz="1400" dirty="0"/>
              <a:t>Einen </a:t>
            </a:r>
            <a:r>
              <a:rPr lang="de-CH" sz="1400" dirty="0" err="1"/>
              <a:t>Accessibility</a:t>
            </a:r>
            <a:r>
              <a:rPr lang="de-CH" sz="1400" dirty="0"/>
              <a:t> Mode für Sehbeeinträchtigte</a:t>
            </a:r>
            <a:endParaRPr lang="de-DE" sz="1400" dirty="0"/>
          </a:p>
          <a:p>
            <a:pPr lvl="0"/>
            <a:r>
              <a:rPr lang="de-CH" sz="1400" dirty="0"/>
              <a:t>Eine übersichtliche Homepage</a:t>
            </a:r>
            <a:endParaRPr lang="de-DE" sz="1400" dirty="0"/>
          </a:p>
          <a:p>
            <a:pPr lvl="0"/>
            <a:r>
              <a:rPr lang="de-CH" sz="1400" dirty="0"/>
              <a:t>Einen Header der beim Scrollen </a:t>
            </a:r>
            <a:r>
              <a:rPr lang="de-CH" sz="1400" dirty="0" err="1"/>
              <a:t>sticky</a:t>
            </a:r>
            <a:r>
              <a:rPr lang="de-CH" sz="1400" dirty="0"/>
              <a:t> wird</a:t>
            </a:r>
            <a:endParaRPr lang="de-DE" sz="1400" dirty="0"/>
          </a:p>
          <a:p>
            <a:pPr lvl="0"/>
            <a:r>
              <a:rPr lang="de-CH" sz="1400" dirty="0"/>
              <a:t>Einen </a:t>
            </a:r>
            <a:r>
              <a:rPr lang="de-CH" sz="1400" dirty="0" err="1"/>
              <a:t>Gameplayguide</a:t>
            </a:r>
            <a:r>
              <a:rPr lang="de-CH" sz="1400" dirty="0"/>
              <a:t> erhalten</a:t>
            </a:r>
            <a:endParaRPr lang="de-DE" sz="1400" dirty="0"/>
          </a:p>
          <a:p>
            <a:pPr lvl="0"/>
            <a:r>
              <a:rPr lang="de-CH" sz="1400" dirty="0"/>
              <a:t>Einen Supportbutton erhalten</a:t>
            </a:r>
            <a:endParaRPr lang="de-DE" sz="1400" dirty="0"/>
          </a:p>
          <a:p>
            <a:pPr lvl="0"/>
            <a:r>
              <a:rPr lang="de-CH" sz="1400" dirty="0"/>
              <a:t>Eine Info über die Autoren erhalten</a:t>
            </a:r>
            <a:endParaRPr lang="de-DE" sz="1400" dirty="0"/>
          </a:p>
          <a:p>
            <a:pPr lvl="0"/>
            <a:r>
              <a:rPr lang="de-CH" sz="1400" dirty="0"/>
              <a:t>Einen guten Farbkontrast</a:t>
            </a:r>
            <a:endParaRPr lang="de-DE" sz="1400" dirty="0"/>
          </a:p>
          <a:p>
            <a:pPr lvl="0"/>
            <a:r>
              <a:rPr lang="de-CH" sz="1400" dirty="0"/>
              <a:t>Einen Medienauftritt vom Hersteller</a:t>
            </a:r>
            <a:endParaRPr lang="de-DE" sz="1400" dirty="0"/>
          </a:p>
          <a:p>
            <a:endParaRPr lang="de-DE" dirty="0"/>
          </a:p>
        </p:txBody>
      </p:sp>
      <p:pic>
        <p:nvPicPr>
          <p:cNvPr id="1026" name="Picture 2" descr="User PNGs for Free Download">
            <a:extLst>
              <a:ext uri="{FF2B5EF4-FFF2-40B4-BE49-F238E27FC236}">
                <a16:creationId xmlns:a16="http://schemas.microsoft.com/office/drawing/2014/main" id="{EFAF677A-E9E5-8BE1-02A3-4106D8B501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35173" y="1330364"/>
            <a:ext cx="824056" cy="4994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3770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" dur="2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8" dur="indefinite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2" dur="indefinite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4" dur="2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6" dur="indefinite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3" presetClass="emph" presetSubtype="2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8" dur="20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9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20" dur="indefinite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2CA2F5-EBB6-B652-36C7-434A39EC8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5199752-1F67-A6D3-38C8-305EED099E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17DB04-90A8-7146-B11E-BE03C15AEB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081191A-C1FB-3FCC-A36A-A6E067F251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E54E007-336A-DA3E-AA79-2BE8738081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73117AC-2CCC-E1D4-50A1-B0EE5CB282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4C2FB99-E09B-06F0-773C-A0706D0A07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8B16814-402A-FC88-FC1F-B73F1A932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44D423C-8ED6-165C-3690-2ECA99F7E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529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Unsere Rollen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053A3FF-FD98-7DC3-92AA-F97162606E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06559" y="2395842"/>
            <a:ext cx="6009750" cy="40805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CH" sz="1800" b="1" dirty="0"/>
              <a:t>Stakeholder: </a:t>
            </a:r>
            <a:r>
              <a:rPr lang="de-CH" sz="1800" u="sng" dirty="0">
                <a:hlinkClick r:id="rId2"/>
              </a:rPr>
              <a:t>Silvan Gehrig</a:t>
            </a:r>
            <a:r>
              <a:rPr lang="de-CH" sz="1800" dirty="0"/>
              <a:t> </a:t>
            </a:r>
            <a:endParaRPr lang="de-DE" sz="1800" dirty="0"/>
          </a:p>
          <a:p>
            <a:pPr marL="0" indent="0">
              <a:buNone/>
            </a:pPr>
            <a:endParaRPr lang="de-CH" sz="1800" dirty="0"/>
          </a:p>
          <a:p>
            <a:pPr marL="0" indent="0">
              <a:buNone/>
            </a:pPr>
            <a:endParaRPr lang="de-DE" sz="1800" dirty="0"/>
          </a:p>
          <a:p>
            <a:pPr marL="0" indent="0">
              <a:buNone/>
            </a:pPr>
            <a:r>
              <a:rPr lang="de-CH" sz="1800" b="1" dirty="0" err="1"/>
              <a:t>Product</a:t>
            </a:r>
            <a:r>
              <a:rPr lang="de-CH" sz="1800" b="1" dirty="0"/>
              <a:t> </a:t>
            </a:r>
            <a:r>
              <a:rPr lang="de-CH" sz="1800" b="1" dirty="0" err="1"/>
              <a:t>Owners</a:t>
            </a:r>
            <a:r>
              <a:rPr lang="de-CH" sz="1800" b="1" dirty="0"/>
              <a:t>:</a:t>
            </a:r>
            <a:endParaRPr lang="de-DE" sz="1800" dirty="0"/>
          </a:p>
          <a:p>
            <a:endParaRPr lang="de-DE" sz="1800" dirty="0"/>
          </a:p>
          <a:p>
            <a:r>
              <a:rPr lang="de-CH" sz="1800" dirty="0"/>
              <a:t>Chief Engineer / Designer / QA Analyst: </a:t>
            </a:r>
            <a:r>
              <a:rPr lang="de-CH" sz="1800" u="sng" dirty="0">
                <a:hlinkClick r:id="rId3"/>
              </a:rPr>
              <a:t>Noel Emele</a:t>
            </a:r>
            <a:endParaRPr lang="de-DE" sz="1800" dirty="0"/>
          </a:p>
          <a:p>
            <a:pPr marL="0" indent="0">
              <a:buNone/>
            </a:pPr>
            <a:endParaRPr lang="de-DE" sz="1800" dirty="0"/>
          </a:p>
          <a:p>
            <a:r>
              <a:rPr lang="de-CH" sz="1800" dirty="0"/>
              <a:t>Developer:  </a:t>
            </a:r>
            <a:r>
              <a:rPr lang="de-CH" sz="1800" u="sng" dirty="0">
                <a:hlinkClick r:id="rId4"/>
              </a:rPr>
              <a:t>Florian Elser</a:t>
            </a:r>
            <a:endParaRPr lang="de-DE" sz="1800" dirty="0"/>
          </a:p>
          <a:p>
            <a:endParaRPr lang="de-DE" sz="1800" dirty="0"/>
          </a:p>
        </p:txBody>
      </p:sp>
      <p:pic>
        <p:nvPicPr>
          <p:cNvPr id="6" name="Grafik 5" descr="Ein Bild, das Schuhwerk, Kleidung, Text, Cartoon enthält.&#10;&#10;KI-generierte Inhalte können fehlerhaft sein.">
            <a:extLst>
              <a:ext uri="{FF2B5EF4-FFF2-40B4-BE49-F238E27FC236}">
                <a16:creationId xmlns:a16="http://schemas.microsoft.com/office/drawing/2014/main" id="{B4B82D56-33BC-7E5C-5CFA-C95CD0E1F37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1671" y="802888"/>
            <a:ext cx="2684638" cy="2626112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0117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2160EF-E0CB-EEA5-DC90-0DACCE83D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5564571-F9E4-2329-1609-3B7836FF3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6361B0-1BA5-361D-309E-D3F15017AD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8BBEA45-BBE3-3026-7F1C-E1C468CEC9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9D27594-B03B-ADEC-9C0F-FF351CC3BD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075C4EA-AB52-9A36-35D9-D83BA92706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790B0EA-A759-A064-3058-2A6B892261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DD342FA-2DB8-8AF5-610E-5F3A86599D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4D0A7B3B-F01B-709E-7EF9-3C352DECC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787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Planen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0C87CE0-08EA-FF06-DAF3-E6D04AE754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Brainstorming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Wireframes 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Zeitplanung</a:t>
            </a: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14967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122864-8BEF-4F45-F4ED-ECBA20D96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A677BF0-BA4C-ACC3-36D7-2BF0C4A14D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BA98F3-9B2A-52B8-F9CA-BCEABB6452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96F9748-5F30-2392-0A74-4CCC7799E0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C6D713D-5C78-B35E-2AB0-56C000461A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EB0574F-8C08-F64F-8ACA-B4105A8DA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F60872C-944E-E487-7575-8A1D93AFD6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1F373BD-7C6A-8711-10B6-4729CDBD04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851989D3-040B-D03C-64F2-D89A0A97C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529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Brainstorming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9AD71FB-B40C-71DE-A41A-BF316A4079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40F5775-A23F-24AA-16A4-F21418F0AE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689" y="2356651"/>
            <a:ext cx="3726562" cy="278955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536ACA2A-1729-38CA-C8B8-F2F2F5D1B0D0}"/>
              </a:ext>
            </a:extLst>
          </p:cNvPr>
          <p:cNvSpPr txBox="1"/>
          <p:nvPr/>
        </p:nvSpPr>
        <p:spPr>
          <a:xfrm>
            <a:off x="6690689" y="1629017"/>
            <a:ext cx="2564781" cy="4616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2400" dirty="0"/>
              <a:t>Mindmap:</a:t>
            </a:r>
          </a:p>
        </p:txBody>
      </p:sp>
    </p:spTree>
    <p:extLst>
      <p:ext uri="{BB962C8B-B14F-4D97-AF65-F5344CB8AC3E}">
        <p14:creationId xmlns:p14="http://schemas.microsoft.com/office/powerpoint/2010/main" val="406768310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B382AB-13D7-330A-095F-8FEA6D7CD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97D57D-DD5C-F874-5FE0-0588290E64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FEC7B3C-2875-8C2E-901E-26528D11F6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54C7F7A-8A86-D6C8-561F-704257696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BEA2765-98E6-68F5-665C-8A3924327A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A1F8624-C406-AD79-B29F-E89BA6968F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53F8B91-C7F9-94E0-3A39-F4C0A09E37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7F4822D-BA6B-8B13-27AC-973D94ABD3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967FB8B-B866-143D-7AD1-D6BA5C117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529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Brainstorming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310CD6-B1BC-A381-3359-E1657BD11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1A9F240-5EF5-803D-8EC9-BCEE2E3284CE}"/>
              </a:ext>
            </a:extLst>
          </p:cNvPr>
          <p:cNvSpPr txBox="1"/>
          <p:nvPr/>
        </p:nvSpPr>
        <p:spPr>
          <a:xfrm>
            <a:off x="1423493" y="1994594"/>
            <a:ext cx="2564781" cy="4616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2400" dirty="0"/>
              <a:t>Mindmap: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7991167-59B3-0575-92E7-26A5D65148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1993" y="240702"/>
            <a:ext cx="8518478" cy="637659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221700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636E87-31E0-D4D3-E0C4-AB8B5E0D2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F34DCB6-58EA-50C6-9560-F04ADED4FD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72B501B-FFF0-DC08-9592-E409953CD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6AE1210-EA3E-9AD2-6D8D-0EB116DA88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2E95D4A-7620-6091-0092-522C03FC81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7D5197B-1ED3-B32B-CF00-DF6215DBF4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A1291DA-2348-6292-2DDD-AC17B14522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72241515-2E36-19BA-CBAB-A399EC1B27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F9B091EC-C7CA-E4D7-1574-52F7C77CA4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6" name="Grafik 5" descr="Ein Bild, das Text, Screenshot, Software, Design enthält.&#10;&#10;KI-generierte Inhalte können fehlerhaft sein.">
            <a:extLst>
              <a:ext uri="{FF2B5EF4-FFF2-40B4-BE49-F238E27FC236}">
                <a16:creationId xmlns:a16="http://schemas.microsoft.com/office/drawing/2014/main" id="{EE235E98-C5F2-F957-401D-8F18AB1CB77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299" y="2706030"/>
            <a:ext cx="1687917" cy="1814249"/>
          </a:xfrm>
          <a:prstGeom prst="rect">
            <a:avLst/>
          </a:prstGeom>
          <a:effectLst>
            <a:glow rad="101600">
              <a:srgbClr val="EE0000">
                <a:alpha val="60000"/>
              </a:srgbClr>
            </a:glow>
          </a:effectLst>
        </p:spPr>
      </p:pic>
      <p:pic>
        <p:nvPicPr>
          <p:cNvPr id="7" name="Grafik 6" descr="Ein Bild, das Text, Elektronik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0AB98F52-75DC-A194-BC07-013057D8A4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2662" y="2630989"/>
            <a:ext cx="1728280" cy="1891830"/>
          </a:xfrm>
          <a:prstGeom prst="rect">
            <a:avLst/>
          </a:prstGeom>
          <a:noFill/>
          <a:ln>
            <a:noFill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4518431B-AE4E-43A5-EAE8-236B291D4A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2095242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2F214B-F5FC-BD54-79F0-C952FBFF7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E66DB2BC-E41F-9F1F-A304-BA8728A7AE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F0FCAEC-9558-2EC4-54E1-94C51CC92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723DAF-3D62-0697-A1FD-66A580DABF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CAABCDE-73B7-849D-2E80-593B0B0DE9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5DDCA15A-E3E7-1A4E-31F9-100F9A78E3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3367148-2288-BD0D-5287-9A8FDE1E73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E9FDDF2-900F-2326-EBF6-D1A722AB9D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EF47345-BFC1-C2C1-1917-11E6732ACF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301A6880-E9BF-44C2-EC69-86DC8D4EF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7" name="Grafik 6" descr="Ein Bild, das Text, Elektronik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0F403A2C-93DF-93D3-5B80-222BDF85401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2662" y="2630989"/>
            <a:ext cx="1728280" cy="1891830"/>
          </a:xfrm>
          <a:prstGeom prst="rect">
            <a:avLst/>
          </a:prstGeom>
          <a:noFill/>
          <a:ln>
            <a:noFill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6" name="Grafik 5" descr="Ein Bild, das Text, Screenshot, Software, Design enthält.&#10;&#10;KI-generierte Inhalte können fehlerhaft sein.">
            <a:extLst>
              <a:ext uri="{FF2B5EF4-FFF2-40B4-BE49-F238E27FC236}">
                <a16:creationId xmlns:a16="http://schemas.microsoft.com/office/drawing/2014/main" id="{79040DC7-56A8-4513-80BA-78D585E7F23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5199" y="508838"/>
            <a:ext cx="5366567" cy="5768227"/>
          </a:xfrm>
          <a:prstGeom prst="rect">
            <a:avLst/>
          </a:prstGeom>
          <a:effectLst>
            <a:glow rad="101600">
              <a:srgbClr val="EE0000">
                <a:alpha val="60000"/>
              </a:srgbClr>
            </a:glow>
          </a:effectLst>
        </p:spPr>
      </p:pic>
    </p:spTree>
    <p:extLst>
      <p:ext uri="{BB962C8B-B14F-4D97-AF65-F5344CB8AC3E}">
        <p14:creationId xmlns:p14="http://schemas.microsoft.com/office/powerpoint/2010/main" val="200144897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22BB93-5870-1ECE-2FA0-CE9E6BB89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B98DD12B-6ED7-3DD7-BE8D-D08A755B1C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504710-00F9-2F98-4003-BA2B049891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DB0F8D-CE4C-EBC5-6800-419C56A841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E470A9C-F9A2-DE9D-4ACF-32CC1BE8BC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D45F5649-9B28-6BDA-D4ED-52BB20C364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DBBE95-18D8-379C-837C-3DC12B130A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5D44ABAB-FF8A-4981-A34C-68860490AC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6A9AFEDA-BD42-4716-9883-8A069E7736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6" name="Grafik 5" descr="Ein Bild, das Text, Screenshot, Software, Design enthält.&#10;&#10;KI-generierte Inhalte können fehlerhaft sein.">
            <a:extLst>
              <a:ext uri="{FF2B5EF4-FFF2-40B4-BE49-F238E27FC236}">
                <a16:creationId xmlns:a16="http://schemas.microsoft.com/office/drawing/2014/main" id="{856C2D38-B8ED-B808-3B08-FBB39B2BC36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299" y="2706030"/>
            <a:ext cx="1687917" cy="1814249"/>
          </a:xfrm>
          <a:prstGeom prst="rect">
            <a:avLst/>
          </a:prstGeom>
          <a:effectLst>
            <a:glow rad="101600">
              <a:srgbClr val="EE0000">
                <a:alpha val="60000"/>
              </a:srgbClr>
            </a:glow>
          </a:effectLst>
        </p:spPr>
      </p:pic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7A66C93A-092F-D417-6950-29544642A5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rafik 6" descr="Ein Bild, das Text, Elektronik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E81B0F35-F91E-9D0C-E9B9-90700F86A6F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2662" y="2630989"/>
            <a:ext cx="1728280" cy="1891830"/>
          </a:xfrm>
          <a:prstGeom prst="rect">
            <a:avLst/>
          </a:prstGeom>
          <a:noFill/>
          <a:ln>
            <a:noFill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39189427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4E66A-F34B-1379-EF47-F9C31E1C2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0E06950-3413-03CD-D295-9074E90307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D1DAFD-0BBB-30DA-8845-E72F07FB6F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284AA38-199F-B830-CECB-B9E7D59A91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64D5F9D-D696-B502-5B83-85AAEFF67D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F9F579B-172A-0AA4-4BA0-C6EA82E6AF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E0D3799-CF13-9806-92BC-B17DC853FC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5E671ED-EBD7-5244-BE31-C0B0848869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C4B8A432-B8EB-6306-BC39-1B62DAE2B0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6" name="Grafik 5" descr="Ein Bild, das Text, Screenshot, Software, Design enthält.&#10;&#10;KI-generierte Inhalte können fehlerhaft sein.">
            <a:extLst>
              <a:ext uri="{FF2B5EF4-FFF2-40B4-BE49-F238E27FC236}">
                <a16:creationId xmlns:a16="http://schemas.microsoft.com/office/drawing/2014/main" id="{57CBD759-F1C9-36CA-B9B9-D12E7E0626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299" y="2706030"/>
            <a:ext cx="1687917" cy="1814249"/>
          </a:xfrm>
          <a:prstGeom prst="rect">
            <a:avLst/>
          </a:prstGeom>
          <a:effectLst>
            <a:glow rad="101600">
              <a:srgbClr val="EE0000">
                <a:alpha val="60000"/>
              </a:srgbClr>
            </a:glow>
          </a:effectLst>
        </p:spPr>
      </p:pic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8E0699DC-87FB-10DD-A56B-FDD5AAD913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EECEFE53-D702-3FE2-FCF9-0428E82DA7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8716" y="217601"/>
            <a:ext cx="6102897" cy="6640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72191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1B334E-4544-F945-6785-7AD0D0634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3EA0F26-1B34-0A77-4516-9A0EC49995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1780EF-899C-C3DE-346A-CF4304A8E0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818308C-F213-AF92-3E72-71D7AEC79B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33F586F-765A-A6C7-DCCC-AACE941088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D0E3EC44-9227-4381-140C-1C5AF3D6B2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D188C6C-8C23-1AA8-F45C-0584BF6FF0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1223249-BB02-7CBE-2706-0CFD1434CE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ABE6D98C-B8CC-A440-2545-CD034F7933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A197420-B2A1-DF68-1092-91956AA62E43}"/>
              </a:ext>
            </a:extLst>
          </p:cNvPr>
          <p:cNvSpPr txBox="1"/>
          <p:nvPr/>
        </p:nvSpPr>
        <p:spPr>
          <a:xfrm>
            <a:off x="5841158" y="1318138"/>
            <a:ext cx="5724293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/>
              <a:t>Gemeinsame Vorteile (beide Wireframes):</a:t>
            </a:r>
          </a:p>
          <a:p>
            <a:r>
              <a:rPr lang="de-DE" sz="1400" dirty="0"/>
              <a:t>✅ Modernes Design (Übergänge, knallige Farben)</a:t>
            </a:r>
          </a:p>
          <a:p>
            <a:r>
              <a:rPr lang="de-DE" sz="1400" dirty="0"/>
              <a:t>✅ Gute Performance (wenig große Bilder)</a:t>
            </a:r>
          </a:p>
          <a:p>
            <a:r>
              <a:rPr lang="de-DE" sz="1400" dirty="0"/>
              <a:t>✅ Gut machbar und umsetzbar</a:t>
            </a:r>
          </a:p>
          <a:p>
            <a:r>
              <a:rPr lang="de-DE" sz="1400" dirty="0"/>
              <a:t>✅ Keine Kosten (außer Strom der Schule)</a:t>
            </a:r>
          </a:p>
          <a:p>
            <a:endParaRPr lang="de-DE" dirty="0"/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61FC34EF-7945-2F0B-A48C-4EB5FF661962}"/>
              </a:ext>
            </a:extLst>
          </p:cNvPr>
          <p:cNvSpPr txBox="1"/>
          <p:nvPr/>
        </p:nvSpPr>
        <p:spPr>
          <a:xfrm>
            <a:off x="5841158" y="3077649"/>
            <a:ext cx="6170340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400" b="1" dirty="0">
                <a:solidFill>
                  <a:srgbClr val="C00000"/>
                </a:solidFill>
              </a:rPr>
              <a:t>Rotes Wireframe </a:t>
            </a:r>
            <a:r>
              <a:rPr lang="de-DE" sz="1400" b="1" dirty="0"/>
              <a:t>– zusätzliche Punkte:</a:t>
            </a:r>
          </a:p>
          <a:p>
            <a:pPr>
              <a:buNone/>
            </a:pPr>
            <a:endParaRPr lang="de-DE" sz="1400" b="1" dirty="0"/>
          </a:p>
          <a:p>
            <a:r>
              <a:rPr lang="de-DE" sz="1400" dirty="0"/>
              <a:t>❌ </a:t>
            </a:r>
            <a:r>
              <a:rPr lang="de-DE" sz="1400" b="1" dirty="0" err="1"/>
              <a:t>Accessibility</a:t>
            </a:r>
            <a:r>
              <a:rPr lang="de-DE" sz="1400" b="1" dirty="0"/>
              <a:t>:</a:t>
            </a:r>
            <a:r>
              <a:rPr lang="de-DE" sz="1400" dirty="0"/>
              <a:t> Schwache Kontraste, ungeeignet für Sehbeeinträchtigte</a:t>
            </a:r>
          </a:p>
          <a:p>
            <a:r>
              <a:rPr lang="de-DE" sz="1400" dirty="0"/>
              <a:t>❌ </a:t>
            </a:r>
            <a:r>
              <a:rPr lang="de-DE" sz="1400" b="1" dirty="0"/>
              <a:t>Security:</a:t>
            </a:r>
            <a:r>
              <a:rPr lang="de-DE" sz="1400" dirty="0"/>
              <a:t> Verwendet </a:t>
            </a:r>
            <a:r>
              <a:rPr lang="de-DE" sz="1400" b="1" dirty="0"/>
              <a:t>HTTP</a:t>
            </a:r>
            <a:r>
              <a:rPr lang="de-DE" sz="1400" dirty="0"/>
              <a:t> statt HTTPS</a:t>
            </a:r>
          </a:p>
          <a:p>
            <a:r>
              <a:rPr lang="de-DE" sz="1400" dirty="0"/>
              <a:t>❌ </a:t>
            </a:r>
            <a:r>
              <a:rPr lang="de-DE" sz="1400" b="1" dirty="0"/>
              <a:t>Usability:</a:t>
            </a:r>
            <a:r>
              <a:rPr lang="de-DE" sz="1400" dirty="0"/>
              <a:t> Buttons nicht konsistent im Design</a:t>
            </a:r>
          </a:p>
          <a:p>
            <a:pPr>
              <a:buFont typeface="Arial" panose="020B0604020202020204" pitchFamily="34" charset="0"/>
              <a:buChar char="•"/>
            </a:pPr>
            <a:endParaRPr lang="de-DE" sz="1400" dirty="0"/>
          </a:p>
          <a:p>
            <a:pPr>
              <a:buNone/>
            </a:pPr>
            <a:r>
              <a:rPr lang="de-DE" sz="1400" b="1" dirty="0">
                <a:solidFill>
                  <a:schemeClr val="accent3"/>
                </a:solidFill>
              </a:rPr>
              <a:t>Grünes Wireframe </a:t>
            </a:r>
            <a:r>
              <a:rPr lang="de-DE" sz="1400" b="1" dirty="0"/>
              <a:t>– zusätzliche Punkte:</a:t>
            </a:r>
          </a:p>
          <a:p>
            <a:pPr>
              <a:buNone/>
            </a:pPr>
            <a:endParaRPr lang="de-DE" sz="1400" b="1" dirty="0"/>
          </a:p>
          <a:p>
            <a:r>
              <a:rPr lang="de-DE" sz="1400" dirty="0"/>
              <a:t>✅ </a:t>
            </a:r>
            <a:r>
              <a:rPr lang="de-DE" sz="1400" b="1" dirty="0" err="1"/>
              <a:t>Accessibility</a:t>
            </a:r>
            <a:r>
              <a:rPr lang="de-DE" sz="1400" b="1" dirty="0"/>
              <a:t>:</a:t>
            </a:r>
            <a:r>
              <a:rPr lang="de-DE" sz="1400" dirty="0"/>
              <a:t> Grundsätzlich gut</a:t>
            </a:r>
          </a:p>
          <a:p>
            <a:r>
              <a:rPr lang="de-DE" sz="1400" dirty="0"/>
              <a:t>✅ </a:t>
            </a:r>
            <a:r>
              <a:rPr lang="de-DE" sz="1400" b="1" dirty="0"/>
              <a:t>Security:</a:t>
            </a:r>
            <a:r>
              <a:rPr lang="de-DE" sz="1400" dirty="0"/>
              <a:t> Verwendet </a:t>
            </a:r>
            <a:r>
              <a:rPr lang="de-DE" sz="1400" b="1" dirty="0"/>
              <a:t>HTTPS</a:t>
            </a:r>
            <a:endParaRPr lang="de-DE" sz="1400" dirty="0"/>
          </a:p>
          <a:p>
            <a:r>
              <a:rPr lang="de-DE" sz="1400" dirty="0"/>
              <a:t>❌ </a:t>
            </a:r>
            <a:r>
              <a:rPr lang="de-DE" sz="1400" b="1" dirty="0" err="1"/>
              <a:t>Accessibility</a:t>
            </a:r>
            <a:r>
              <a:rPr lang="de-DE" sz="1400" b="1" dirty="0"/>
              <a:t>:</a:t>
            </a:r>
            <a:r>
              <a:rPr lang="de-DE" sz="1400" dirty="0"/>
              <a:t> Weißer Text auf hellgrün (schlechter Kontrast)</a:t>
            </a:r>
          </a:p>
        </p:txBody>
      </p:sp>
    </p:spTree>
    <p:extLst>
      <p:ext uri="{BB962C8B-B14F-4D97-AF65-F5344CB8AC3E}">
        <p14:creationId xmlns:p14="http://schemas.microsoft.com/office/powerpoint/2010/main" val="77988361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C3C9DD-F23B-FD52-7123-6266A44F5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5F1A824-930F-AF4D-14D3-06967F288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F4754A-FB19-332C-A841-2C5CA2F301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7F49FF2-A131-A1E8-C665-C7DFD02D8C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62C07E8-F38B-F7D5-EEB3-4CF0032E6D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B2FC7055-3529-603C-E9FC-224C6F69F6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A5B34E5-79A2-2A50-10B2-D5FC718F61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D2F3D759-CC30-089F-3A9D-3C263E0A57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D50F0001-FDB0-45C9-BEBD-6700A1D43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383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082F3F7E-5A40-C610-B9F5-CD497115BE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847" y="1495452"/>
            <a:ext cx="5479241" cy="1735017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BFC967C2-6AAE-FEBD-8152-95D1C14B46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768" y="4097978"/>
            <a:ext cx="4802002" cy="208291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741013DF-F457-28AC-9F36-7854BBBD880C}"/>
              </a:ext>
            </a:extLst>
          </p:cNvPr>
          <p:cNvSpPr txBox="1"/>
          <p:nvPr/>
        </p:nvSpPr>
        <p:spPr>
          <a:xfrm>
            <a:off x="6215768" y="353018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43142B33-5304-BB55-B995-6F2D5C41A6CE}"/>
              </a:ext>
            </a:extLst>
          </p:cNvPr>
          <p:cNvSpPr txBox="1"/>
          <p:nvPr/>
        </p:nvSpPr>
        <p:spPr>
          <a:xfrm>
            <a:off x="6095847" y="842223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Alte Roadmap</a:t>
            </a:r>
          </a:p>
        </p:txBody>
      </p:sp>
    </p:spTree>
    <p:extLst>
      <p:ext uri="{BB962C8B-B14F-4D97-AF65-F5344CB8AC3E}">
        <p14:creationId xmlns:p14="http://schemas.microsoft.com/office/powerpoint/2010/main" val="216922133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30D6C0-A688-39FD-460F-AFD8EC02E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E0F6A0E-3323-78CA-796E-045A913879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DC1A0AC-6F18-A60B-B728-A429BF4837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8BF8CF9-7B94-2C93-CE77-CDDFDC9CF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2B7DE01-8BDB-4198-B397-029CDD0F72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47147BC-8321-E42B-0633-99EDE16872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D1583A8-9F09-7196-9642-0CCF087332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41FB40E-7B76-999D-0AA9-6031090867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F09D5747-A390-D378-79D0-2FE128D64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383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49A9F62-3532-4D28-3ECE-8978A1201F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0748" y="2792854"/>
            <a:ext cx="4802002" cy="208291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FCAAC8FB-2DBE-BBD0-517E-5BB5E2B21321}"/>
              </a:ext>
            </a:extLst>
          </p:cNvPr>
          <p:cNvSpPr txBox="1"/>
          <p:nvPr/>
        </p:nvSpPr>
        <p:spPr>
          <a:xfrm>
            <a:off x="6215768" y="353018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EB3D8E39-88D0-E680-30BC-A06842817D5A}"/>
              </a:ext>
            </a:extLst>
          </p:cNvPr>
          <p:cNvSpPr txBox="1"/>
          <p:nvPr/>
        </p:nvSpPr>
        <p:spPr>
          <a:xfrm>
            <a:off x="4614042" y="1058347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Alte Roadmap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67678C6E-F3CF-808B-DFEA-2C445A8E284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2151" y="1858780"/>
            <a:ext cx="9527763" cy="3016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257057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7F0AFA-8CB7-6FCC-7CCE-57C77268C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5BD2249-634F-E41B-38B3-559997183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4A41BC1-634F-F31A-704E-DBFC33CDDA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1355635-7797-183B-4D72-464D5A4076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6EAF6E4-5BE6-C999-19AB-BCBD676B29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253FF8D-C2C7-8FDF-293F-275B1237F5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76D5F86-D9FE-8AB2-0065-E175B29223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2A48679-1F10-7229-EA4E-CB0469BA03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E8ED85FB-BE0E-82F1-49A4-32430B474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383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4EDB5089-DC89-5982-3E13-814045C84BD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847" y="1495452"/>
            <a:ext cx="5479241" cy="1735017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51596702-309E-8C82-19DE-88B191B429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768" y="4097978"/>
            <a:ext cx="4802002" cy="208291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BB5217C7-0595-8FB5-AA59-47C2CADB23EF}"/>
              </a:ext>
            </a:extLst>
          </p:cNvPr>
          <p:cNvSpPr txBox="1"/>
          <p:nvPr/>
        </p:nvSpPr>
        <p:spPr>
          <a:xfrm>
            <a:off x="6215768" y="353018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2D56B7F0-E210-68C3-FE92-3A289DEBF55E}"/>
              </a:ext>
            </a:extLst>
          </p:cNvPr>
          <p:cNvSpPr txBox="1"/>
          <p:nvPr/>
        </p:nvSpPr>
        <p:spPr>
          <a:xfrm>
            <a:off x="6095847" y="842223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Alte Roadmap</a:t>
            </a:r>
          </a:p>
        </p:txBody>
      </p:sp>
    </p:spTree>
    <p:extLst>
      <p:ext uri="{BB962C8B-B14F-4D97-AF65-F5344CB8AC3E}">
        <p14:creationId xmlns:p14="http://schemas.microsoft.com/office/powerpoint/2010/main" val="26002900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F14D82-75CD-0BEB-3E30-193DC92B4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A3CCC7-A708-6085-A8BE-CA45177465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0380CE8-BEAA-487C-8039-B44BD3E982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E0571D6-D1BF-0158-97E4-F12DA4F2E3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3373B2F-2D2D-7C54-41AD-F33AC7C44C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12BD295-5E8D-D343-70CF-A49B0C974D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A399576-9FBE-2DDE-87C5-544AF2849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B447C54-8FDD-64D4-9E65-1D9B894B1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A2F00488-445A-F574-A8AF-C92ECE90B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383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7B7876F2-8524-94D8-AFD1-43B1CBDD7D4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5087" y="2256700"/>
            <a:ext cx="5479241" cy="173501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5DE53ECB-D46B-2237-FADF-E446F031E5BE}"/>
              </a:ext>
            </a:extLst>
          </p:cNvPr>
          <p:cNvSpPr txBox="1"/>
          <p:nvPr/>
        </p:nvSpPr>
        <p:spPr>
          <a:xfrm>
            <a:off x="4694659" y="909705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78FE0CCF-9D57-A829-08D8-383EA1EF75A7}"/>
              </a:ext>
            </a:extLst>
          </p:cNvPr>
          <p:cNvSpPr txBox="1"/>
          <p:nvPr/>
        </p:nvSpPr>
        <p:spPr>
          <a:xfrm>
            <a:off x="6215768" y="2581082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Alte Roadmap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062647E-401C-4DDA-DA73-76A991A3B6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4607" y="1684393"/>
            <a:ext cx="9218950" cy="399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59270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224</Words>
  <Application>Microsoft Office PowerPoint</Application>
  <PresentationFormat>Breitbild</PresentationFormat>
  <Paragraphs>75</Paragraphs>
  <Slides>16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16</vt:i4>
      </vt:variant>
    </vt:vector>
  </HeadingPairs>
  <TitlesOfParts>
    <vt:vector size="22" baseType="lpstr">
      <vt:lpstr>Aptos</vt:lpstr>
      <vt:lpstr>Aptos Display</vt:lpstr>
      <vt:lpstr>Arial</vt:lpstr>
      <vt:lpstr>Orbitron</vt:lpstr>
      <vt:lpstr>Wingdings</vt:lpstr>
      <vt:lpstr>Office</vt:lpstr>
      <vt:lpstr>Projektarbeit</vt:lpstr>
      <vt:lpstr>Informieren</vt:lpstr>
      <vt:lpstr>Unsere Ziele</vt:lpstr>
      <vt:lpstr>Unsere Rollen</vt:lpstr>
      <vt:lpstr>Planen</vt:lpstr>
      <vt:lpstr>Brainstorming</vt:lpstr>
      <vt:lpstr>Brainstorming</vt:lpstr>
      <vt:lpstr>Wireframes</vt:lpstr>
      <vt:lpstr>Wireframes</vt:lpstr>
      <vt:lpstr>Wireframes</vt:lpstr>
      <vt:lpstr>Wireframes</vt:lpstr>
      <vt:lpstr>Wireframes</vt:lpstr>
      <vt:lpstr>Zeitplan</vt:lpstr>
      <vt:lpstr>Zeitplan</vt:lpstr>
      <vt:lpstr>Zeitplan</vt:lpstr>
      <vt:lpstr>Zeitplan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Emele Noel Andreas BZRA IMST24a</dc:creator>
  <cp:lastModifiedBy>Emele Noel Andreas BZRA IMST24a</cp:lastModifiedBy>
  <cp:revision>35</cp:revision>
  <dcterms:created xsi:type="dcterms:W3CDTF">2025-06-22T11:30:58Z</dcterms:created>
  <dcterms:modified xsi:type="dcterms:W3CDTF">2025-06-22T19:48:33Z</dcterms:modified>
</cp:coreProperties>
</file>